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601200" cy="12801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Optimized</c:v>
                </c:pt>
              </c:strCache>
            </c:strRef>
          </c:tx>
          <c:spPr>
            <a:solidFill>
              <a:srgbClr val="4F81BD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104.4</c:v>
                </c:pt>
                <c:pt idx="1">
                  <c:v>104.4</c:v>
                </c:pt>
                <c:pt idx="2">
                  <c:v>109.0</c:v>
                </c:pt>
                <c:pt idx="3">
                  <c:v>141.2</c:v>
                </c:pt>
                <c:pt idx="4">
                  <c:v>164.2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Previous</c:v>
                </c:pt>
              </c:strCache>
            </c:strRef>
          </c:tx>
          <c:spPr>
            <a:solidFill>
              <a:srgbClr val="C0504D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50</c:v>
                </c:pt>
                <c:pt idx="1">
                  <c:v>100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134.6</c:v>
                </c:pt>
                <c:pt idx="1">
                  <c:v>603.3</c:v>
                </c:pt>
                <c:pt idx="2">
                  <c:v>1445.8</c:v>
                </c:pt>
                <c:pt idx="3">
                  <c:v>2677.3</c:v>
                </c:pt>
                <c:pt idx="4">
                  <c:v>4319.3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legend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601200" cy="1280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09728"/>
            <a:ext cx="9272016" cy="1261872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64592"/>
            <a:ext cx="7360920" cy="713232"/>
          </a:xfrm>
          <a:prstGeom prst="rect">
            <a:avLst/>
          </a:prstGeom>
          <a:noFill/>
        </p:spPr>
        <p:txBody>
          <a:bodyPr wrap="square" lIns="0" rIns="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Efficient Simulation and Visualization of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History Trees for Dynamic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32688"/>
            <a:ext cx="7360920" cy="329184"/>
          </a:xfrm>
          <a:prstGeom prst="rect">
            <a:avLst/>
          </a:prstGeom>
          <a:noFill/>
        </p:spPr>
        <p:txBody>
          <a:bodyPr wrap="square" lIns="0" rIns="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s1310193 Kazane Hamao      Supervisor: Giovanni Viglietta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256032"/>
            <a:ext cx="1499616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395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438912"/>
            <a:ext cx="1499616" cy="603504"/>
          </a:xfrm>
          <a:prstGeom prst="rect">
            <a:avLst/>
          </a:prstGeom>
          <a:noFill/>
        </p:spPr>
        <p:txBody>
          <a:bodyPr wrap="square" lIns="18288" rIns="18288" tIns="27432" bIns="18288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395E89"/>
                </a:solidFill>
                <a:latin typeface="Arial"/>
                <a:ea typeface="Arial"/>
                <a:cs typeface="Arial"/>
              </a:rPr>
              <a:t>Supervisor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95E89"/>
                </a:solidFill>
                <a:latin typeface="Arial"/>
                <a:ea typeface="Arial"/>
                <a:cs typeface="Arial"/>
              </a:rPr>
              <a:t>seal / signature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1499616"/>
            <a:ext cx="0" cy="9308592"/>
          </a:xfrm>
          <a:prstGeom prst="line">
            <a:avLst/>
          </a:prstGeom>
          <a:ln w="28575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19456" y="1499616"/>
            <a:ext cx="4370832" cy="292608"/>
          </a:xfrm>
          <a:prstGeom prst="rect">
            <a:avLst/>
          </a:prstGeom>
          <a:noFill/>
        </p:spPr>
        <p:txBody>
          <a:bodyPr wrap="square" lIns="0" rIns="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Introduction and Background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9456" y="1792224"/>
            <a:ext cx="4370832" cy="0"/>
          </a:xfrm>
          <a:prstGeom prst="line">
            <a:avLst/>
          </a:prstGeom>
          <a:ln w="146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19456" y="1837943"/>
            <a:ext cx="4370832" cy="2845308"/>
          </a:xfrm>
          <a:prstGeom prst="rect">
            <a:avLst/>
          </a:prstGeom>
          <a:noFill/>
        </p:spPr>
        <p:txBody>
          <a:bodyPr wrap="square" lIns="45720" rIns="4572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Agents have no names, and every agent runs the same program. Each round, links may appear or disappear. An agent hears a broadcast only from its current neighbors.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If two agents have seen the same messages, they cannot be told apart. They cannot count by pointing at neighbors. The task is to infer n, the number of agents [1].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 history tree stores that view. One level is one round. Same-looking agents share a node. A black edge is a split. A red edge is a message. Anonymity 1 means one agent.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With one leader, stabilizing settles on the correct n by round 2n−2, and may guess wrong first. Terminating stops only after n is proved, by round 3n−2 [1].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Prof. Viglietta uses this simulator in class. Students use the same page. Fig. 2 is its glossary.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4710684"/>
            <a:ext cx="4370832" cy="292608"/>
          </a:xfrm>
          <a:prstGeom prst="rect">
            <a:avLst/>
          </a:prstGeom>
          <a:noFill/>
        </p:spPr>
        <p:txBody>
          <a:bodyPr wrap="square" lIns="0" rIns="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Approach / Methodology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9456" y="5003292"/>
            <a:ext cx="4370832" cy="0"/>
          </a:xfrm>
          <a:prstGeom prst="line">
            <a:avLst/>
          </a:prstGeom>
          <a:ln w="146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9456" y="5049012"/>
            <a:ext cx="4370832" cy="2497328"/>
          </a:xfrm>
          <a:prstGeom prst="rect">
            <a:avLst/>
          </a:prstGeom>
          <a:noFill/>
        </p:spPr>
        <p:txBody>
          <a:bodyPr wrap="square" lIns="45720" rIns="4572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2.1 Model. One leader, input 0, no port labels [1].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2.2 C to WebAssembly. Left: network. Right: tree.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https://kazane1225.github.io/Research_NetworkSimulater/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2.3 Append of the last round: O(R n²) → O(n²).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2.4 Professor mode is the class default.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Student mode: Glossary, Tour, Learn, Help.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Legend, live stats, and an EN/JA switch.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2.5 A worker thread can rebuild while drawing.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GitHub Pages cannot send the headers it needs.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The public demo splits that work across frames.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Computing… stays up until the tree is ready.</a:t>
            </a:r>
          </a:p>
        </p:txBody>
      </p:sp>
      <p:pic>
        <p:nvPicPr>
          <p:cNvPr id="15" name="Picture 14" descr="glossar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7573772"/>
            <a:ext cx="4370832" cy="2754884"/>
          </a:xfrm>
          <a:prstGeom prst="rect">
            <a:avLst/>
          </a:prstGeom>
          <a:ln w="12700">
            <a:solidFill>
              <a:srgbClr val="395E8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219456" y="10356088"/>
            <a:ext cx="4370832" cy="461264"/>
          </a:xfrm>
          <a:prstGeom prst="rect">
            <a:avLst/>
          </a:prstGeom>
          <a:noFill/>
        </p:spPr>
        <p:txBody>
          <a:bodyPr wrap="square" lIns="45720" rIns="4572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395E89"/>
                </a:solidFill>
                <a:latin typeface="Arial"/>
                <a:ea typeface="Arial"/>
                <a:cs typeface="Arial"/>
              </a:rPr>
              <a:t>Fig. 2. Glossary in Student mode. Left canvas: the network. Right canvas: the history tree.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1499616"/>
            <a:ext cx="4462272" cy="292608"/>
          </a:xfrm>
          <a:prstGeom prst="rect">
            <a:avLst/>
          </a:prstGeom>
          <a:noFill/>
        </p:spPr>
        <p:txBody>
          <a:bodyPr wrap="square" lIns="0" rIns="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Current Results and Status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37760" y="1792224"/>
            <a:ext cx="4462272" cy="0"/>
          </a:xfrm>
          <a:prstGeom prst="line">
            <a:avLst/>
          </a:prstGeom>
          <a:ln w="146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37760" y="1837943"/>
            <a:ext cx="4462272" cy="2125980"/>
          </a:xfrm>
          <a:prstGeom prst="rect">
            <a:avLst/>
          </a:prstGeom>
          <a:noFill/>
        </p:spPr>
        <p:txBody>
          <a:bodyPr wrap="square" lIns="45720" rIns="4572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Tutorial network, 6 agents, same machine.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Append 1→250: 1.30 s vs 16.2 s (~12×).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After 200 rounds: 6.5 ms vs 156 ms.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Insert near the start, to 250 rounds: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   2.53 s vs 16.9 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Append at 5,000 rounds: still ~224 ms.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Insert hits 1 s/click near 3,250 rounds.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Deep insert no longer crashes.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A 1,199-round suffix still takes ~12.5 s.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937760" y="4000500"/>
          <a:ext cx="4462272" cy="1554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4937760" y="5573268"/>
            <a:ext cx="4462272" cy="461264"/>
          </a:xfrm>
          <a:prstGeom prst="rect">
            <a:avLst/>
          </a:prstGeom>
          <a:noFill/>
        </p:spPr>
        <p:txBody>
          <a:bodyPr wrap="square" lIns="45720" rIns="4572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395E89"/>
                </a:solidFill>
                <a:latin typeface="Arial"/>
                <a:ea typeface="Arial"/>
                <a:cs typeface="Arial"/>
              </a:rPr>
              <a:t>Fig. 1. ms per 25 rounds. Blue stays under 170; red grows past 4,000.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937760" y="6080252"/>
          <a:ext cx="4462272" cy="1298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517904"/>
                <a:gridCol w="1527048"/>
              </a:tblGrid>
              <a:tr h="259689">
                <a:tc>
                  <a:txBody>
                    <a:bodyPr wrap="square" lIns="36576" rIns="36576" tIns="18288" bIns="18288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1F497D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  <a:tc>
                  <a:txBody>
                    <a:bodyPr wrap="square" lIns="36576" rIns="36576" tIns="18288" bIns="18288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Stabilizing</a:t>
                      </a:r>
                    </a:p>
                  </a:txBody>
                  <a:tcPr anchor="ctr">
                    <a:solidFill>
                      <a:srgbClr val="1F497D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  <a:tc>
                  <a:txBody>
                    <a:bodyPr wrap="square" lIns="36576" rIns="36576" tIns="18288" bIns="18288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Terminating</a:t>
                      </a:r>
                    </a:p>
                  </a:txBody>
                  <a:tcPr anchor="ctr">
                    <a:solidFill>
                      <a:srgbClr val="1F497D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</a:tr>
              <a:tr h="259689">
                <a:tc>
                  <a:txBody>
                    <a:bodyPr wrap="square" lIns="36576" rIns="36576" tIns="18288" bIns="18288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Correct n by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  <a:tc>
                  <a:txBody>
                    <a:bodyPr wrap="square" lIns="36576" rIns="36576" tIns="18288" bIns="18288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round 2n − 2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  <a:tc>
                  <a:txBody>
                    <a:bodyPr wrap="square" lIns="36576" rIns="36576" tIns="18288" bIns="18288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round 3n − 2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</a:tr>
              <a:tr h="259689">
                <a:tc>
                  <a:txBody>
                    <a:bodyPr wrap="square" lIns="36576" rIns="36576" tIns="18288" bIns="18288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Wrong n shown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  <a:tc>
                  <a:txBody>
                    <a:bodyPr wrap="square" lIns="36576" rIns="36576" tIns="18288" bIns="18288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possible early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  <a:tc>
                  <a:txBody>
                    <a:bodyPr wrap="square" lIns="36576" rIns="36576" tIns="18288" bIns="18288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not confirmed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</a:tr>
              <a:tr h="259689">
                <a:tc>
                  <a:txBody>
                    <a:bodyPr wrap="square" lIns="36576" rIns="36576" tIns="18288" bIns="18288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Does it stop?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  <a:tc>
                  <a:txBody>
                    <a:bodyPr wrap="square" lIns="36576" rIns="36576" tIns="18288" bIns="18288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  <a:tc>
                  <a:txBody>
                    <a:bodyPr wrap="square" lIns="36576" rIns="36576" tIns="18288" bIns="18288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Yes, with proof</a:t>
                      </a:r>
                    </a:p>
                  </a:txBody>
                  <a:tcPr anchor="ctr">
                    <a:solidFill>
                      <a:srgbClr val="F3F6FA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</a:tr>
              <a:tr h="259689">
                <a:tc>
                  <a:txBody>
                    <a:bodyPr wrap="square" lIns="36576" rIns="36576" tIns="18288" bIns="18288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In this app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  <a:tc>
                  <a:txBody>
                    <a:bodyPr wrap="square" lIns="36576" rIns="36576" tIns="18288" bIns="18288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  <a:tc>
                  <a:txBody>
                    <a:bodyPr wrap="square" lIns="36576" rIns="36576" tIns="18288" bIns="18288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>
                      <a:solidFill>
                        <a:srgbClr val="395E89"/>
                      </a:solidFill>
                    </a:lnL>
                    <a:lnR w="9525">
                      <a:solidFill>
                        <a:srgbClr val="395E89"/>
                      </a:solidFill>
                    </a:lnR>
                    <a:lnT w="9525">
                      <a:solidFill>
                        <a:srgbClr val="395E89"/>
                      </a:solidFill>
                    </a:lnT>
                    <a:lnB w="9525">
                      <a:solidFill>
                        <a:srgbClr val="395E8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937760" y="7406132"/>
            <a:ext cx="4462272" cy="276352"/>
          </a:xfrm>
          <a:prstGeom prst="rect">
            <a:avLst/>
          </a:prstGeom>
          <a:noFill/>
        </p:spPr>
        <p:txBody>
          <a:bodyPr wrap="square" lIns="45720" rIns="4572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395E89"/>
                </a:solidFill>
                <a:latin typeface="Arial"/>
                <a:ea typeface="Arial"/>
                <a:cs typeface="Arial"/>
              </a:rPr>
              <a:t>Table 1. Counting algorithms from [1], stepped in the app.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7737347"/>
            <a:ext cx="4462272" cy="292608"/>
          </a:xfrm>
          <a:prstGeom prst="rect">
            <a:avLst/>
          </a:prstGeom>
          <a:noFill/>
        </p:spPr>
        <p:txBody>
          <a:bodyPr wrap="square" lIns="0" rIns="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 Remaining Tasks and Schedule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37760" y="8029956"/>
            <a:ext cx="4462272" cy="0"/>
          </a:xfrm>
          <a:prstGeom prst="line">
            <a:avLst/>
          </a:prstGeom>
          <a:ln w="146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937760" y="8075675"/>
            <a:ext cx="4462272" cy="1447800"/>
          </a:xfrm>
          <a:prstGeom prst="rect">
            <a:avLst/>
          </a:prstGeom>
          <a:noFill/>
        </p:spPr>
        <p:txBody>
          <a:bodyPr wrap="square" lIns="45720" rIns="4572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Middle insert still replays the suffix.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Long runs can near the 256 MB limit.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Public page has no worker thread.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Last-round edits stay on the main thread.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Later: more leaders, directed links [2].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Fallback: keep the fast last-round edit.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7760" y="9569195"/>
            <a:ext cx="4462272" cy="1239012"/>
          </a:xfrm>
          <a:prstGeom prst="rect">
            <a:avLst/>
          </a:prstGeom>
          <a:solidFill>
            <a:srgbClr val="FFFFFF"/>
          </a:solidFill>
          <a:ln w="12700">
            <a:solidFill>
              <a:srgbClr val="395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9605771"/>
            <a:ext cx="4352544" cy="1079500"/>
          </a:xfrm>
          <a:prstGeom prst="rect">
            <a:avLst/>
          </a:prstGeom>
          <a:noFill/>
        </p:spPr>
        <p:txBody>
          <a:bodyPr wrap="square" lIns="18288" rIns="18288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F497D"/>
                </a:solidFill>
                <a:latin typeface="Arial"/>
                <a:ea typeface="Arial"/>
                <a:cs typeface="Arial"/>
              </a:rPr>
              <a:t>Schedule, Oct 2026 – Jan 2027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Oct — faster middle insert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Nov — memory-safe long runs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Dec — thesis text on the UI and threads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•  Jan — thesis draft and final demo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" y="10936224"/>
            <a:ext cx="9162288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19456" y="10991088"/>
            <a:ext cx="9162288" cy="292608"/>
          </a:xfrm>
          <a:prstGeom prst="rect">
            <a:avLst/>
          </a:prstGeom>
          <a:noFill/>
        </p:spPr>
        <p:txBody>
          <a:bodyPr wrap="square" lIns="0" rIns="0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" y="11301984"/>
            <a:ext cx="9162288" cy="1400556"/>
          </a:xfrm>
          <a:prstGeom prst="rect">
            <a:avLst/>
          </a:prstGeom>
          <a:noFill/>
        </p:spPr>
        <p:txBody>
          <a:bodyPr wrap="square" lIns="18288" rIns="18288" tIns="27432" bIns="18288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[1]  G. A. Di Luna and G. Viglietta, “Computing in Anonymous Dynamic Networks Is Linear,” Proc. IEEE FOCS, pp. 1122–1133, 2022.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[2]  G. Viglietta, “History Trees and Their Applications,” Proc. SIROCCO 2024, LNCS 14662, pp. 3–23, Springer, 2024.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[3]  N. Santoro, Design and Analysis of Distributed Algorithms, Wiley-Interscience, 2007.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[4]  K. Hamao, Anonymous Dynamic Network Simulator.  https://kazane1225.github.io/Research_NetworkSimulater/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Efficient Simulation and Visualization of History Trees for Dynamic Networks</dc:title>
  <dc:subject/>
  <dc:creator>Kazane Hamao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