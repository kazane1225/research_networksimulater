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601200" cy="12801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Optimized</c:v>
                </c:pt>
              </c:strCache>
            </c:strRef>
          </c:tx>
          <c:spPr>
            <a:solidFill>
              <a:srgbClr val="4F81BD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50</c:v>
                </c:pt>
                <c:pt idx="1">
                  <c:v>100</c:v>
                </c:pt>
                <c:pt idx="2">
                  <c:v>150</c:v>
                </c:pt>
                <c:pt idx="3">
                  <c:v>200</c:v>
                </c:pt>
                <c:pt idx="4">
                  <c:v>250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104.4</c:v>
                </c:pt>
                <c:pt idx="1">
                  <c:v>104.4</c:v>
                </c:pt>
                <c:pt idx="2">
                  <c:v>109.0</c:v>
                </c:pt>
                <c:pt idx="3">
                  <c:v>141.2</c:v>
                </c:pt>
                <c:pt idx="4">
                  <c:v>164.2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Previous</c:v>
                </c:pt>
              </c:strCache>
            </c:strRef>
          </c:tx>
          <c:spPr>
            <a:solidFill>
              <a:srgbClr val="C0504D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50</c:v>
                </c:pt>
                <c:pt idx="1">
                  <c:v>100</c:v>
                </c:pt>
                <c:pt idx="2">
                  <c:v>150</c:v>
                </c:pt>
                <c:pt idx="3">
                  <c:v>200</c:v>
                </c:pt>
                <c:pt idx="4">
                  <c:v>250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134.6</c:v>
                </c:pt>
                <c:pt idx="1">
                  <c:v>603.3</c:v>
                </c:pt>
                <c:pt idx="2">
                  <c:v>1445.8</c:v>
                </c:pt>
                <c:pt idx="3">
                  <c:v>2677.3</c:v>
                </c:pt>
                <c:pt idx="4">
                  <c:v>4319.3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/>
                </a:pPr>
                <a:r>
                  <a:rPr sz="1100" b="0" i="0">
                    <a:solidFill>
                      <a:srgbClr val="222222"/>
                    </a:solidFill>
                    <a:latin typeface="Arial"/>
                    <a:ea typeface="Arial"/>
                    <a:cs typeface="Arial"/>
                  </a:rPr>
                  <a:t>Rounds reached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pPr>
                  <a:defRPr/>
                </a:pPr>
                <a:r>
                  <a:rPr sz="1100" b="0" i="0">
                    <a:solidFill>
                      <a:srgbClr val="222222"/>
                    </a:solidFill>
                    <a:latin typeface="Arial"/>
                    <a:ea typeface="Arial"/>
                    <a:cs typeface="Arial"/>
                  </a:rPr>
                  <a:t>ms / 25 rounds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601200" cy="1280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109728"/>
            <a:ext cx="9308592" cy="1115568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164592"/>
            <a:ext cx="7452360" cy="713232"/>
          </a:xfrm>
          <a:prstGeom prst="rect">
            <a:avLst/>
          </a:prstGeom>
          <a:noFill/>
        </p:spPr>
        <p:txBody>
          <a:bodyPr wrap="square" lIns="0" rIns="0" tIns="18288" bIns="18288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Efficient Simulation and Visualization of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History Trees for Dynamic Networks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841248"/>
            <a:ext cx="7452360" cy="292608"/>
          </a:xfrm>
          <a:prstGeom prst="rect">
            <a:avLst/>
          </a:prstGeom>
          <a:noFill/>
        </p:spPr>
        <p:txBody>
          <a:bodyPr wrap="square" lIns="0" rIns="0" tIns="18288" bIns="18288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s1310193 Kazane Hamao          Supervisor: Giovanni Viglietta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219456"/>
            <a:ext cx="1481328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395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420624"/>
            <a:ext cx="1481328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95E89"/>
                </a:solidFill>
                <a:latin typeface="Arial"/>
                <a:ea typeface="Arial"/>
                <a:cs typeface="Arial"/>
              </a:rPr>
              <a:t>Supervisor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95E89"/>
                </a:solidFill>
                <a:latin typeface="Arial"/>
                <a:ea typeface="Arial"/>
                <a:cs typeface="Arial"/>
              </a:rPr>
              <a:t>seal / signature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773168" y="1353312"/>
            <a:ext cx="0" cy="9144000"/>
          </a:xfrm>
          <a:prstGeom prst="line">
            <a:avLst/>
          </a:prstGeom>
          <a:ln w="31750">
            <a:solidFill>
              <a:srgbClr val="4F81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01168" y="1335024"/>
            <a:ext cx="4407408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 Introduction and Background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1168" y="1627632"/>
            <a:ext cx="4407408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01168" y="1664208"/>
            <a:ext cx="4443984" cy="2331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An anonymous network gives agents no unique IDs. Every agent runs the same program and can only broadcast to its current neighbors. In a dynamic network the links may change at every synchronous round [1], [3].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Agents stay indistinguishable until they receive different messages. A history tree records that process: level Lₜ is one node per group that is still indistinguishable at round t, and a(v) is the number of agents in the group (its anonymity) [1], [2].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With one leader, the tree is enough to compute the network size n. The count can settle by round 2n−2, and an algorithm can also stop, with a proof, by round 3n−2 [1].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This project does not change those bounds. It builds a simulator that shows the tree and the two algorithms, and that stays responsive when the user adds many rounds.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4041648"/>
            <a:ext cx="4425696" cy="1444752"/>
          </a:xfrm>
          <a:prstGeom prst="rect">
            <a:avLst/>
          </a:prstGeom>
          <a:solidFill>
            <a:srgbClr val="E7EEF7"/>
          </a:solidFill>
          <a:ln w="12700">
            <a:solidFill>
              <a:srgbClr val="395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4078224"/>
            <a:ext cx="4315968" cy="1371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F497D"/>
                </a:solidFill>
                <a:latin typeface="Arial"/>
                <a:ea typeface="Arial"/>
                <a:cs typeface="Arial"/>
              </a:rPr>
              <a:t>Reading a history tree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•  Black edge — a class splits into smaller classes.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•  Red edge — messages of that round, with multiplicity.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•  Vista — the finite piece of the tree one agent can build.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•  Anonymity 1 — that agent is uniquely identifiable.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" y="5596128"/>
            <a:ext cx="4407408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 Approach / Methodology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1168" y="5888736"/>
            <a:ext cx="4407408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01168" y="5925312"/>
            <a:ext cx="4443984" cy="2697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 i="0">
                <a:solidFill>
                  <a:srgbClr val="1F497D"/>
                </a:solidFill>
                <a:latin typeface="Arial"/>
                <a:ea typeface="Arial"/>
                <a:cs typeface="Arial"/>
              </a:rPr>
              <a:t>2.1 Model.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Same setting as [1]: an undirected dynamic multigraph, one leader (input 0), and no port labels. Each agent builds a vista and merges it with the vistas it receives.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 i="0">
                <a:solidFill>
                  <a:srgbClr val="1F497D"/>
                </a:solidFill>
                <a:latin typeface="Arial"/>
                <a:ea typeface="Arial"/>
                <a:cs typeface="Arial"/>
              </a:rPr>
              <a:t>2.2 The program.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The network, the history tree, and both counting algorithms are written in C and compiled to WebAssembly. Left panel: agents and the links of the current round. Right panel: the history tree, colored by the algorithm’s guess.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Sample networks, including known hard cases, load from the page.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497D"/>
                </a:solidFill>
                <a:latin typeface="Arial"/>
                <a:ea typeface="Arial"/>
                <a:cs typeface="Arial"/>
              </a:rPr>
              <a:t>https://kazane1225.github.io/Research_NetworkSimulater/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 i="0">
                <a:solidFill>
                  <a:srgbClr val="1F497D"/>
                </a:solidFill>
                <a:latin typeface="Arial"/>
                <a:ea typeface="Arial"/>
                <a:cs typeface="Arial"/>
              </a:rPr>
              <a:t>2.3 Making long runs usable.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•  Append the last round from a snapshot: O(R n²) → O(n²).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•  Grow the merged tree by one level: O(R n³) → O(n²).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•  A middle edit restores a checkpoint and replays only the suffix.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•  Merge uses a hash map, and skips agents with the same tree hash.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•  A recursive walk crashed near 2,000 rounds; it is now a loop.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" y="8613648"/>
            <a:ext cx="4425696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395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 flipH="1">
            <a:off x="1051560" y="8997696"/>
            <a:ext cx="1280160" cy="164592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468880" y="8997696"/>
            <a:ext cx="1143000" cy="164592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51560" y="9436608"/>
            <a:ext cx="0" cy="164592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880360" y="9436608"/>
            <a:ext cx="502920" cy="164592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840480" y="9436608"/>
            <a:ext cx="0" cy="164592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737360" y="9308592"/>
            <a:ext cx="411480" cy="0"/>
          </a:xfrm>
          <a:prstGeom prst="line">
            <a:avLst/>
          </a:prstGeom>
          <a:ln w="22225">
            <a:solidFill>
              <a:srgbClr val="C050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148840" y="9308592"/>
            <a:ext cx="0" cy="402336"/>
          </a:xfrm>
          <a:prstGeom prst="line">
            <a:avLst/>
          </a:prstGeom>
          <a:ln w="22225">
            <a:solidFill>
              <a:srgbClr val="C050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148840" y="9710928"/>
            <a:ext cx="338328" cy="0"/>
          </a:xfrm>
          <a:prstGeom prst="line">
            <a:avLst/>
          </a:prstGeom>
          <a:ln w="22225">
            <a:solidFill>
              <a:srgbClr val="C050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755648" y="9326880"/>
            <a:ext cx="502920" cy="201168"/>
          </a:xfrm>
          <a:prstGeom prst="rect">
            <a:avLst/>
          </a:prstGeom>
          <a:noFill/>
        </p:spPr>
        <p:txBody>
          <a:bodyPr wrap="square" lIns="0" rIns="0" tIns="18288" bIns="18288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0504D"/>
                </a:solidFill>
                <a:latin typeface="Arial"/>
                <a:ea typeface="Arial"/>
                <a:cs typeface="Arial"/>
              </a:rPr>
              <a:t>red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627632" y="8705088"/>
            <a:ext cx="1554480" cy="292608"/>
          </a:xfrm>
          <a:prstGeom prst="rect">
            <a:avLst/>
          </a:prstGeom>
          <a:solidFill>
            <a:srgbClr val="E7EEF7"/>
          </a:solidFill>
          <a:ln w="12700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627632" y="8705088"/>
            <a:ext cx="155448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   all agents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7472" y="9162288"/>
            <a:ext cx="1417320" cy="292608"/>
          </a:xfrm>
          <a:prstGeom prst="rect">
            <a:avLst/>
          </a:prstGeom>
          <a:solidFill>
            <a:srgbClr val="E7EEF7"/>
          </a:solidFill>
          <a:ln w="12700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" y="9162288"/>
            <a:ext cx="141732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leader   a = 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834640" y="9162288"/>
            <a:ext cx="1554480" cy="292608"/>
          </a:xfrm>
          <a:prstGeom prst="rect">
            <a:avLst/>
          </a:prstGeom>
          <a:solidFill>
            <a:srgbClr val="E7EEF7"/>
          </a:solidFill>
          <a:ln w="12700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34640" y="9162288"/>
            <a:ext cx="155448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others  a = n−1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9601200"/>
            <a:ext cx="1188720" cy="274320"/>
          </a:xfrm>
          <a:prstGeom prst="rect">
            <a:avLst/>
          </a:prstGeom>
          <a:solidFill>
            <a:srgbClr val="C6EFCE"/>
          </a:solidFill>
          <a:ln w="12700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9601200"/>
            <a:ext cx="11887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leader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87168" y="9601200"/>
            <a:ext cx="777240" cy="274320"/>
          </a:xfrm>
          <a:prstGeom prst="rect">
            <a:avLst/>
          </a:prstGeom>
          <a:solidFill>
            <a:srgbClr val="FFF2CC"/>
          </a:solidFill>
          <a:ln w="12700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487168" y="9601200"/>
            <a:ext cx="77724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56432" y="9601200"/>
            <a:ext cx="777240" cy="274320"/>
          </a:xfrm>
          <a:prstGeom prst="rect">
            <a:avLst/>
          </a:prstGeom>
          <a:solidFill>
            <a:srgbClr val="FFF2CC"/>
          </a:solidFill>
          <a:ln w="12700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56432" y="9601200"/>
            <a:ext cx="77724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" y="9930384"/>
            <a:ext cx="4279392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395E89"/>
                </a:solidFill>
                <a:latin typeface="Arial"/>
                <a:ea typeface="Arial"/>
                <a:cs typeface="Arial"/>
              </a:rPr>
              <a:t>Fig. 2. Black edges split classes over rounds. The red edge is a message.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37760" y="1335024"/>
            <a:ext cx="44805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 Current Results and Status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4937760" y="1627632"/>
            <a:ext cx="448056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4937760" y="1645920"/>
            <a:ext cx="4498848" cy="16276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Tutorial network, 6 agents. Same PC and browser. “Optimized” is this version; “previous” is the older build.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•  Append rounds 1→250: 1.30 s vs 16.2 s (about 12×). After 200 rounds: 6.5 ms/click vs 156 ms/click.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•  Insert near round 1, up to 250 rounds: 2.53 s vs 16.9 s.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•  Append is still under 1 s/click at 5,000 rounds (~224 ms). Insert from round 1 passes 1 s/click near 3,250 rounds.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•  A deep insert no longer crashes (it used to, near 2,000 rounds). A suffix of 1,199 rounds still takes ~12.5 s.</a:t>
            </a:r>
          </a:p>
        </p:txBody>
      </p:sp>
      <p:graphicFrame>
        <p:nvGraphicFramePr>
          <p:cNvPr id="43" name="Chart 42"/>
          <p:cNvGraphicFramePr>
            <a:graphicFrameLocks noGrp="1"/>
          </p:cNvGraphicFramePr>
          <p:nvPr/>
        </p:nvGraphicFramePr>
        <p:xfrm>
          <a:off x="4937760" y="3310128"/>
          <a:ext cx="4498848" cy="187451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4" name="Rectangle 43"/>
          <p:cNvSpPr/>
          <p:nvPr/>
        </p:nvSpPr>
        <p:spPr>
          <a:xfrm>
            <a:off x="5010912" y="5193792"/>
            <a:ext cx="164592" cy="109728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537960" y="5193792"/>
            <a:ext cx="164592" cy="109728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93792" y="5138928"/>
            <a:ext cx="1280160" cy="201168"/>
          </a:xfrm>
          <a:prstGeom prst="rect">
            <a:avLst/>
          </a:prstGeom>
          <a:noFill/>
        </p:spPr>
        <p:txBody>
          <a:bodyPr wrap="square" lIns="0" rIns="0" tIns="18288" bIns="18288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497D"/>
                </a:solidFill>
                <a:latin typeface="Arial"/>
                <a:ea typeface="Arial"/>
                <a:cs typeface="Arial"/>
              </a:rPr>
              <a:t>Optimized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5138928"/>
            <a:ext cx="1280160" cy="201168"/>
          </a:xfrm>
          <a:prstGeom prst="rect">
            <a:avLst/>
          </a:prstGeom>
          <a:noFill/>
        </p:spPr>
        <p:txBody>
          <a:bodyPr wrap="square" lIns="0" rIns="0" tIns="18288" bIns="18288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0504D"/>
                </a:solidFill>
                <a:latin typeface="Arial"/>
                <a:ea typeface="Arial"/>
                <a:cs typeface="Arial"/>
              </a:rPr>
              <a:t>Previous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37760" y="5340096"/>
            <a:ext cx="4498848" cy="4206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395E89"/>
                </a:solidFill>
                <a:latin typeface="Arial"/>
                <a:ea typeface="Arial"/>
                <a:cs typeface="Arial"/>
              </a:rPr>
              <a:t>Fig. 1. Milliseconds per 25 appended rounds. Optimized stays at 104–164 ms; the previous build grows past 4,000 ms.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4937760" y="5779008"/>
          <a:ext cx="4498848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536192"/>
                <a:gridCol w="1545336"/>
              </a:tblGrid>
              <a:tr h="296265"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anchor="ctr">
                    <a:solidFill>
                      <a:srgbClr val="1F497D"/>
                    </a:solidFill>
                    <a:lnL w="9525" cap="flat" cmpd="sng">
                      <a:solidFill>
                        <a:srgbClr val="395E89"/>
                      </a:solidFill>
                      <a:prstDash val="solid"/>
                    </a:lnL>
                    <a:lnR w="9525" cap="flat" cmpd="sng">
                      <a:solidFill>
                        <a:srgbClr val="395E89"/>
                      </a:solidFill>
                      <a:prstDash val="solid"/>
                    </a:lnR>
                    <a:lnT w="9525" cap="flat" cmpd="sng">
                      <a:solidFill>
                        <a:srgbClr val="395E89"/>
                      </a:solidFill>
                      <a:prstDash val="solid"/>
                    </a:lnT>
                    <a:lnB w="9525" cap="flat" cmpd="sng">
                      <a:solidFill>
                        <a:srgbClr val="395E89"/>
                      </a:solidFill>
                      <a:prstDash val="solid"/>
                    </a:lnB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Stabilizing</a:t>
                      </a:r>
                    </a:p>
                  </a:txBody>
                  <a:tcPr anchor="ctr">
                    <a:solidFill>
                      <a:srgbClr val="1F497D"/>
                    </a:solidFill>
                    <a:lnL w="9525" cap="flat" cmpd="sng">
                      <a:solidFill>
                        <a:srgbClr val="395E89"/>
                      </a:solidFill>
                      <a:prstDash val="solid"/>
                    </a:lnL>
                    <a:lnR w="9525" cap="flat" cmpd="sng">
                      <a:solidFill>
                        <a:srgbClr val="395E89"/>
                      </a:solidFill>
                      <a:prstDash val="solid"/>
                    </a:lnR>
                    <a:lnT w="9525" cap="flat" cmpd="sng">
                      <a:solidFill>
                        <a:srgbClr val="395E89"/>
                      </a:solidFill>
                      <a:prstDash val="solid"/>
                    </a:lnT>
                    <a:lnB w="9525" cap="flat" cmpd="sng">
                      <a:solidFill>
                        <a:srgbClr val="395E89"/>
                      </a:solidFill>
                      <a:prstDash val="solid"/>
                    </a:lnB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Terminating</a:t>
                      </a:r>
                    </a:p>
                  </a:txBody>
                  <a:tcPr anchor="ctr">
                    <a:solidFill>
                      <a:srgbClr val="1F497D"/>
                    </a:solidFill>
                    <a:lnL w="9525" cap="flat" cmpd="sng">
                      <a:solidFill>
                        <a:srgbClr val="395E89"/>
                      </a:solidFill>
                      <a:prstDash val="solid"/>
                    </a:lnL>
                    <a:lnR w="9525" cap="flat" cmpd="sng">
                      <a:solidFill>
                        <a:srgbClr val="395E89"/>
                      </a:solidFill>
                      <a:prstDash val="solid"/>
                    </a:lnR>
                    <a:lnT w="9525" cap="flat" cmpd="sng">
                      <a:solidFill>
                        <a:srgbClr val="395E89"/>
                      </a:solidFill>
                      <a:prstDash val="solid"/>
                    </a:lnT>
                    <a:lnB w="9525" cap="flat" cmpd="sng">
                      <a:solidFill>
                        <a:srgbClr val="395E89"/>
                      </a:solidFill>
                      <a:prstDash val="solid"/>
                    </a:lnB>
                  </a:tcPr>
                </a:tc>
              </a:tr>
              <a:tr h="296265">
                <a:tc>
                  <a:txBody>
                    <a:bodyPr wrap="square" lIns="36576" rIns="36576" tIns="27432" bIns="27432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</a:rPr>
                        <a:t>Correct n by</a:t>
                      </a:r>
                    </a:p>
                  </a:txBody>
                  <a:tcPr anchor="ctr">
                    <a:solidFill>
                      <a:srgbClr val="F3F6FA"/>
                    </a:solidFill>
                    <a:lnL w="9525" cap="flat" cmpd="sng">
                      <a:solidFill>
                        <a:srgbClr val="395E89"/>
                      </a:solidFill>
                      <a:prstDash val="solid"/>
                    </a:lnL>
                    <a:lnR w="9525" cap="flat" cmpd="sng">
                      <a:solidFill>
                        <a:srgbClr val="395E89"/>
                      </a:solidFill>
                      <a:prstDash val="solid"/>
                    </a:lnR>
                    <a:lnT w="9525" cap="flat" cmpd="sng">
                      <a:solidFill>
                        <a:srgbClr val="395E89"/>
                      </a:solidFill>
                      <a:prstDash val="solid"/>
                    </a:lnT>
                    <a:lnB w="9525" cap="flat" cmpd="sng">
                      <a:solidFill>
                        <a:srgbClr val="395E89"/>
                      </a:solidFill>
                      <a:prstDash val="solid"/>
                    </a:lnB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</a:rPr>
                        <a:t>round 2n − 2</a:t>
                      </a:r>
                    </a:p>
                  </a:txBody>
                  <a:tcPr anchor="ctr">
                    <a:solidFill>
                      <a:srgbClr val="F3F6FA"/>
                    </a:solidFill>
                    <a:lnL w="9525" cap="flat" cmpd="sng">
                      <a:solidFill>
                        <a:srgbClr val="395E89"/>
                      </a:solidFill>
                      <a:prstDash val="solid"/>
                    </a:lnL>
                    <a:lnR w="9525" cap="flat" cmpd="sng">
                      <a:solidFill>
                        <a:srgbClr val="395E89"/>
                      </a:solidFill>
                      <a:prstDash val="solid"/>
                    </a:lnR>
                    <a:lnT w="9525" cap="flat" cmpd="sng">
                      <a:solidFill>
                        <a:srgbClr val="395E89"/>
                      </a:solidFill>
                      <a:prstDash val="solid"/>
                    </a:lnT>
                    <a:lnB w="9525" cap="flat" cmpd="sng">
                      <a:solidFill>
                        <a:srgbClr val="395E89"/>
                      </a:solidFill>
                      <a:prstDash val="solid"/>
                    </a:lnB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</a:rPr>
                        <a:t>round 3n − 2</a:t>
                      </a:r>
                    </a:p>
                  </a:txBody>
                  <a:tcPr anchor="ctr">
                    <a:solidFill>
                      <a:srgbClr val="F3F6FA"/>
                    </a:solidFill>
                    <a:lnL w="9525" cap="flat" cmpd="sng">
                      <a:solidFill>
                        <a:srgbClr val="395E89"/>
                      </a:solidFill>
                      <a:prstDash val="solid"/>
                    </a:lnL>
                    <a:lnR w="9525" cap="flat" cmpd="sng">
                      <a:solidFill>
                        <a:srgbClr val="395E89"/>
                      </a:solidFill>
                      <a:prstDash val="solid"/>
                    </a:lnR>
                    <a:lnT w="9525" cap="flat" cmpd="sng">
                      <a:solidFill>
                        <a:srgbClr val="395E89"/>
                      </a:solidFill>
                      <a:prstDash val="solid"/>
                    </a:lnT>
                    <a:lnB w="9525" cap="flat" cmpd="sng">
                      <a:solidFill>
                        <a:srgbClr val="395E89"/>
                      </a:solidFill>
                      <a:prstDash val="solid"/>
                    </a:lnB>
                  </a:tcPr>
                </a:tc>
              </a:tr>
              <a:tr h="296265">
                <a:tc>
                  <a:txBody>
                    <a:bodyPr wrap="square" lIns="36576" rIns="36576" tIns="27432" bIns="27432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</a:rPr>
                        <a:t>Wrong n shown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395E89"/>
                      </a:solidFill>
                      <a:prstDash val="solid"/>
                    </a:lnL>
                    <a:lnR w="9525" cap="flat" cmpd="sng">
                      <a:solidFill>
                        <a:srgbClr val="395E89"/>
                      </a:solidFill>
                      <a:prstDash val="solid"/>
                    </a:lnR>
                    <a:lnT w="9525" cap="flat" cmpd="sng">
                      <a:solidFill>
                        <a:srgbClr val="395E89"/>
                      </a:solidFill>
                      <a:prstDash val="solid"/>
                    </a:lnT>
                    <a:lnB w="9525" cap="flat" cmpd="sng">
                      <a:solidFill>
                        <a:srgbClr val="395E89"/>
                      </a:solidFill>
                      <a:prstDash val="solid"/>
                    </a:lnB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</a:rPr>
                        <a:t>possible early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395E89"/>
                      </a:solidFill>
                      <a:prstDash val="solid"/>
                    </a:lnL>
                    <a:lnR w="9525" cap="flat" cmpd="sng">
                      <a:solidFill>
                        <a:srgbClr val="395E89"/>
                      </a:solidFill>
                      <a:prstDash val="solid"/>
                    </a:lnR>
                    <a:lnT w="9525" cap="flat" cmpd="sng">
                      <a:solidFill>
                        <a:srgbClr val="395E89"/>
                      </a:solidFill>
                      <a:prstDash val="solid"/>
                    </a:lnT>
                    <a:lnB w="9525" cap="flat" cmpd="sng">
                      <a:solidFill>
                        <a:srgbClr val="395E89"/>
                      </a:solidFill>
                      <a:prstDash val="solid"/>
                    </a:lnB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</a:rPr>
                        <a:t>not confirmed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395E89"/>
                      </a:solidFill>
                      <a:prstDash val="solid"/>
                    </a:lnL>
                    <a:lnR w="9525" cap="flat" cmpd="sng">
                      <a:solidFill>
                        <a:srgbClr val="395E89"/>
                      </a:solidFill>
                      <a:prstDash val="solid"/>
                    </a:lnR>
                    <a:lnT w="9525" cap="flat" cmpd="sng">
                      <a:solidFill>
                        <a:srgbClr val="395E89"/>
                      </a:solidFill>
                      <a:prstDash val="solid"/>
                    </a:lnT>
                    <a:lnB w="9525" cap="flat" cmpd="sng">
                      <a:solidFill>
                        <a:srgbClr val="395E89"/>
                      </a:solidFill>
                      <a:prstDash val="solid"/>
                    </a:lnB>
                  </a:tcPr>
                </a:tc>
              </a:tr>
              <a:tr h="296265">
                <a:tc>
                  <a:txBody>
                    <a:bodyPr wrap="square" lIns="36576" rIns="36576" tIns="27432" bIns="27432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</a:rPr>
                        <a:t>Does it stop?</a:t>
                      </a:r>
                    </a:p>
                  </a:txBody>
                  <a:tcPr anchor="ctr">
                    <a:solidFill>
                      <a:srgbClr val="F3F6FA"/>
                    </a:solidFill>
                    <a:lnL w="9525" cap="flat" cmpd="sng">
                      <a:solidFill>
                        <a:srgbClr val="395E89"/>
                      </a:solidFill>
                      <a:prstDash val="solid"/>
                    </a:lnL>
                    <a:lnR w="9525" cap="flat" cmpd="sng">
                      <a:solidFill>
                        <a:srgbClr val="395E89"/>
                      </a:solidFill>
                      <a:prstDash val="solid"/>
                    </a:lnR>
                    <a:lnT w="9525" cap="flat" cmpd="sng">
                      <a:solidFill>
                        <a:srgbClr val="395E89"/>
                      </a:solidFill>
                      <a:prstDash val="solid"/>
                    </a:lnT>
                    <a:lnB w="9525" cap="flat" cmpd="sng">
                      <a:solidFill>
                        <a:srgbClr val="395E89"/>
                      </a:solidFill>
                      <a:prstDash val="solid"/>
                    </a:lnB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anchor="ctr">
                    <a:solidFill>
                      <a:srgbClr val="F3F6FA"/>
                    </a:solidFill>
                    <a:lnL w="9525" cap="flat" cmpd="sng">
                      <a:solidFill>
                        <a:srgbClr val="395E89"/>
                      </a:solidFill>
                      <a:prstDash val="solid"/>
                    </a:lnL>
                    <a:lnR w="9525" cap="flat" cmpd="sng">
                      <a:solidFill>
                        <a:srgbClr val="395E89"/>
                      </a:solidFill>
                      <a:prstDash val="solid"/>
                    </a:lnR>
                    <a:lnT w="9525" cap="flat" cmpd="sng">
                      <a:solidFill>
                        <a:srgbClr val="395E89"/>
                      </a:solidFill>
                      <a:prstDash val="solid"/>
                    </a:lnT>
                    <a:lnB w="9525" cap="flat" cmpd="sng">
                      <a:solidFill>
                        <a:srgbClr val="395E89"/>
                      </a:solidFill>
                      <a:prstDash val="solid"/>
                    </a:lnB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</a:rPr>
                        <a:t>Yes, with a certificate</a:t>
                      </a:r>
                    </a:p>
                  </a:txBody>
                  <a:tcPr anchor="ctr">
                    <a:solidFill>
                      <a:srgbClr val="F3F6FA"/>
                    </a:solidFill>
                    <a:lnL w="9525" cap="flat" cmpd="sng">
                      <a:solidFill>
                        <a:srgbClr val="395E89"/>
                      </a:solidFill>
                      <a:prstDash val="solid"/>
                    </a:lnL>
                    <a:lnR w="9525" cap="flat" cmpd="sng">
                      <a:solidFill>
                        <a:srgbClr val="395E89"/>
                      </a:solidFill>
                      <a:prstDash val="solid"/>
                    </a:lnR>
                    <a:lnT w="9525" cap="flat" cmpd="sng">
                      <a:solidFill>
                        <a:srgbClr val="395E89"/>
                      </a:solidFill>
                      <a:prstDash val="solid"/>
                    </a:lnT>
                    <a:lnB w="9525" cap="flat" cmpd="sng">
                      <a:solidFill>
                        <a:srgbClr val="395E89"/>
                      </a:solidFill>
                      <a:prstDash val="solid"/>
                    </a:lnB>
                  </a:tcPr>
                </a:tc>
              </a:tr>
              <a:tr h="296268">
                <a:tc>
                  <a:txBody>
                    <a:bodyPr wrap="square" lIns="36576" rIns="36576" tIns="27432" bIns="27432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</a:rPr>
                        <a:t>In this app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395E89"/>
                      </a:solidFill>
                      <a:prstDash val="solid"/>
                    </a:lnL>
                    <a:lnR w="9525" cap="flat" cmpd="sng">
                      <a:solidFill>
                        <a:srgbClr val="395E89"/>
                      </a:solidFill>
                      <a:prstDash val="solid"/>
                    </a:lnR>
                    <a:lnT w="9525" cap="flat" cmpd="sng">
                      <a:solidFill>
                        <a:srgbClr val="395E89"/>
                      </a:solidFill>
                      <a:prstDash val="solid"/>
                    </a:lnT>
                    <a:lnB w="9525" cap="flat" cmpd="sng">
                      <a:solidFill>
                        <a:srgbClr val="395E89"/>
                      </a:solidFill>
                      <a:prstDash val="solid"/>
                    </a:lnB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395E89"/>
                      </a:solidFill>
                      <a:prstDash val="solid"/>
                    </a:lnL>
                    <a:lnR w="9525" cap="flat" cmpd="sng">
                      <a:solidFill>
                        <a:srgbClr val="395E89"/>
                      </a:solidFill>
                      <a:prstDash val="solid"/>
                    </a:lnR>
                    <a:lnT w="9525" cap="flat" cmpd="sng">
                      <a:solidFill>
                        <a:srgbClr val="395E89"/>
                      </a:solidFill>
                      <a:prstDash val="solid"/>
                    </a:lnT>
                    <a:lnB w="9525" cap="flat" cmpd="sng">
                      <a:solidFill>
                        <a:srgbClr val="395E89"/>
                      </a:solidFill>
                      <a:prstDash val="solid"/>
                    </a:lnB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395E89"/>
                      </a:solidFill>
                      <a:prstDash val="solid"/>
                    </a:lnL>
                    <a:lnR w="9525" cap="flat" cmpd="sng">
                      <a:solidFill>
                        <a:srgbClr val="395E89"/>
                      </a:solidFill>
                      <a:prstDash val="solid"/>
                    </a:lnR>
                    <a:lnT w="9525" cap="flat" cmpd="sng">
                      <a:solidFill>
                        <a:srgbClr val="395E89"/>
                      </a:solidFill>
                      <a:prstDash val="solid"/>
                    </a:lnT>
                    <a:lnB w="9525" cap="flat" cmpd="sng">
                      <a:solidFill>
                        <a:srgbClr val="395E89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50" name="TextBox 49"/>
          <p:cNvSpPr txBox="1"/>
          <p:nvPr/>
        </p:nvSpPr>
        <p:spPr>
          <a:xfrm>
            <a:off x="4937760" y="7278624"/>
            <a:ext cx="4498848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395E89"/>
                </a:solidFill>
                <a:latin typeface="Arial"/>
                <a:ea typeface="Arial"/>
                <a:cs typeface="Arial"/>
              </a:rPr>
              <a:t>Table 1. Counting algorithms from [1] implemented in the simulator. One leader, connected network.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37760" y="7626096"/>
            <a:ext cx="44805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 Remaining Tasks and Schedule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937760" y="7918704"/>
            <a:ext cx="448056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4937760" y="7936992"/>
            <a:ext cx="4498848" cy="10789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•  Middle insert still replays the whole suffix (the 12.5 s case).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•  Very long runs can near the 256 MB WebAssembly memory limit.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•  Explain red edges, anonymity, and node colors on the page.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•  Later: multi-leader and directed networks [2].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•  Fallback: keep the fast append path and state the insert limit.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937760" y="9052560"/>
            <a:ext cx="4498848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395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10912" y="9089136"/>
            <a:ext cx="4352544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497D"/>
                </a:solidFill>
                <a:latin typeface="Arial"/>
                <a:ea typeface="Arial"/>
                <a:cs typeface="Arial"/>
              </a:rPr>
              <a:t>Schedule: Oct 2026 – Jan 2027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5010912" y="9326880"/>
          <a:ext cx="4352544" cy="10424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2768"/>
                <a:gridCol w="694944"/>
                <a:gridCol w="694944"/>
                <a:gridCol w="694944"/>
                <a:gridCol w="694944"/>
              </a:tblGrid>
              <a:tr h="208483"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Task</a:t>
                      </a:r>
                    </a:p>
                  </a:txBody>
                  <a:tcPr anchor="ctr">
                    <a:solidFill>
                      <a:srgbClr val="1F497D"/>
                    </a:solidFill>
                    <a:lnL w="9525" cap="flat" cmpd="sng">
                      <a:solidFill>
                        <a:srgbClr val="395E89"/>
                      </a:solidFill>
                      <a:prstDash val="solid"/>
                    </a:lnL>
                    <a:lnR w="9525" cap="flat" cmpd="sng">
                      <a:solidFill>
                        <a:srgbClr val="395E89"/>
                      </a:solidFill>
                      <a:prstDash val="solid"/>
                    </a:lnR>
                    <a:lnT w="9525" cap="flat" cmpd="sng">
                      <a:solidFill>
                        <a:srgbClr val="395E89"/>
                      </a:solidFill>
                      <a:prstDash val="solid"/>
                    </a:lnT>
                    <a:lnB w="9525" cap="flat" cmpd="sng">
                      <a:solidFill>
                        <a:srgbClr val="395E89"/>
                      </a:solidFill>
                      <a:prstDash val="solid"/>
                    </a:lnB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Oct</a:t>
                      </a:r>
                    </a:p>
                  </a:txBody>
                  <a:tcPr anchor="ctr">
                    <a:solidFill>
                      <a:srgbClr val="1F497D"/>
                    </a:solidFill>
                    <a:lnL w="9525" cap="flat" cmpd="sng">
                      <a:solidFill>
                        <a:srgbClr val="395E89"/>
                      </a:solidFill>
                      <a:prstDash val="solid"/>
                    </a:lnL>
                    <a:lnR w="9525" cap="flat" cmpd="sng">
                      <a:solidFill>
                        <a:srgbClr val="395E89"/>
                      </a:solidFill>
                      <a:prstDash val="solid"/>
                    </a:lnR>
                    <a:lnT w="9525" cap="flat" cmpd="sng">
                      <a:solidFill>
                        <a:srgbClr val="395E89"/>
                      </a:solidFill>
                      <a:prstDash val="solid"/>
                    </a:lnT>
                    <a:lnB w="9525" cap="flat" cmpd="sng">
                      <a:solidFill>
                        <a:srgbClr val="395E89"/>
                      </a:solidFill>
                      <a:prstDash val="solid"/>
                    </a:lnB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Nov</a:t>
                      </a:r>
                    </a:p>
                  </a:txBody>
                  <a:tcPr anchor="ctr">
                    <a:solidFill>
                      <a:srgbClr val="1F497D"/>
                    </a:solidFill>
                    <a:lnL w="9525" cap="flat" cmpd="sng">
                      <a:solidFill>
                        <a:srgbClr val="395E89"/>
                      </a:solidFill>
                      <a:prstDash val="solid"/>
                    </a:lnL>
                    <a:lnR w="9525" cap="flat" cmpd="sng">
                      <a:solidFill>
                        <a:srgbClr val="395E89"/>
                      </a:solidFill>
                      <a:prstDash val="solid"/>
                    </a:lnR>
                    <a:lnT w="9525" cap="flat" cmpd="sng">
                      <a:solidFill>
                        <a:srgbClr val="395E89"/>
                      </a:solidFill>
                      <a:prstDash val="solid"/>
                    </a:lnT>
                    <a:lnB w="9525" cap="flat" cmpd="sng">
                      <a:solidFill>
                        <a:srgbClr val="395E89"/>
                      </a:solidFill>
                      <a:prstDash val="solid"/>
                    </a:lnB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Dec</a:t>
                      </a:r>
                    </a:p>
                  </a:txBody>
                  <a:tcPr anchor="ctr">
                    <a:solidFill>
                      <a:srgbClr val="1F497D"/>
                    </a:solidFill>
                    <a:lnL w="9525" cap="flat" cmpd="sng">
                      <a:solidFill>
                        <a:srgbClr val="395E89"/>
                      </a:solidFill>
                      <a:prstDash val="solid"/>
                    </a:lnL>
                    <a:lnR w="9525" cap="flat" cmpd="sng">
                      <a:solidFill>
                        <a:srgbClr val="395E89"/>
                      </a:solidFill>
                      <a:prstDash val="solid"/>
                    </a:lnR>
                    <a:lnT w="9525" cap="flat" cmpd="sng">
                      <a:solidFill>
                        <a:srgbClr val="395E89"/>
                      </a:solidFill>
                      <a:prstDash val="solid"/>
                    </a:lnT>
                    <a:lnB w="9525" cap="flat" cmpd="sng">
                      <a:solidFill>
                        <a:srgbClr val="395E89"/>
                      </a:solidFill>
                      <a:prstDash val="solid"/>
                    </a:lnB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Jan</a:t>
                      </a:r>
                    </a:p>
                  </a:txBody>
                  <a:tcPr anchor="ctr">
                    <a:solidFill>
                      <a:srgbClr val="1F497D"/>
                    </a:solidFill>
                    <a:lnL w="9525" cap="flat" cmpd="sng">
                      <a:solidFill>
                        <a:srgbClr val="395E89"/>
                      </a:solidFill>
                      <a:prstDash val="solid"/>
                    </a:lnL>
                    <a:lnR w="9525" cap="flat" cmpd="sng">
                      <a:solidFill>
                        <a:srgbClr val="395E89"/>
                      </a:solidFill>
                      <a:prstDash val="solid"/>
                    </a:lnR>
                    <a:lnT w="9525" cap="flat" cmpd="sng">
                      <a:solidFill>
                        <a:srgbClr val="395E89"/>
                      </a:solidFill>
                      <a:prstDash val="solid"/>
                    </a:lnT>
                    <a:lnB w="9525" cap="flat" cmpd="sng">
                      <a:solidFill>
                        <a:srgbClr val="395E89"/>
                      </a:solidFill>
                      <a:prstDash val="solid"/>
                    </a:lnB>
                  </a:tcPr>
                </a:tc>
              </a:tr>
              <a:tr h="208483">
                <a:tc>
                  <a:txBody>
                    <a:bodyPr wrap="square" lIns="36576" rIns="36576" tIns="27432" bIns="27432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</a:rPr>
                        <a:t>Faster middle insert</a:t>
                      </a:r>
                    </a:p>
                  </a:txBody>
                  <a:tcPr anchor="ctr">
                    <a:solidFill>
                      <a:srgbClr val="F3F6FA"/>
                    </a:solidFill>
                    <a:lnL w="9525" cap="flat" cmpd="sng">
                      <a:solidFill>
                        <a:srgbClr val="395E89"/>
                      </a:solidFill>
                      <a:prstDash val="solid"/>
                    </a:lnL>
                    <a:lnR w="9525" cap="flat" cmpd="sng">
                      <a:solidFill>
                        <a:srgbClr val="395E89"/>
                      </a:solidFill>
                      <a:prstDash val="solid"/>
                    </a:lnR>
                    <a:lnT w="9525" cap="flat" cmpd="sng">
                      <a:solidFill>
                        <a:srgbClr val="395E89"/>
                      </a:solidFill>
                      <a:prstDash val="solid"/>
                    </a:lnT>
                    <a:lnB w="9525" cap="flat" cmpd="sng">
                      <a:solidFill>
                        <a:srgbClr val="395E89"/>
                      </a:solidFill>
                      <a:prstDash val="solid"/>
                    </a:lnB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</a:rPr>
                        <a:t>■</a:t>
                      </a:r>
                    </a:p>
                  </a:txBody>
                  <a:tcPr anchor="ctr">
                    <a:solidFill>
                      <a:srgbClr val="F3F6FA"/>
                    </a:solidFill>
                    <a:lnL w="9525" cap="flat" cmpd="sng">
                      <a:solidFill>
                        <a:srgbClr val="395E89"/>
                      </a:solidFill>
                      <a:prstDash val="solid"/>
                    </a:lnL>
                    <a:lnR w="9525" cap="flat" cmpd="sng">
                      <a:solidFill>
                        <a:srgbClr val="395E89"/>
                      </a:solidFill>
                      <a:prstDash val="solid"/>
                    </a:lnR>
                    <a:lnT w="9525" cap="flat" cmpd="sng">
                      <a:solidFill>
                        <a:srgbClr val="395E89"/>
                      </a:solidFill>
                      <a:prstDash val="solid"/>
                    </a:lnT>
                    <a:lnB w="9525" cap="flat" cmpd="sng">
                      <a:solidFill>
                        <a:srgbClr val="395E89"/>
                      </a:solidFill>
                      <a:prstDash val="solid"/>
                    </a:lnB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anchor="ctr">
                    <a:solidFill>
                      <a:srgbClr val="F3F6FA"/>
                    </a:solidFill>
                    <a:lnL w="9525" cap="flat" cmpd="sng">
                      <a:solidFill>
                        <a:srgbClr val="395E89"/>
                      </a:solidFill>
                      <a:prstDash val="solid"/>
                    </a:lnL>
                    <a:lnR w="9525" cap="flat" cmpd="sng">
                      <a:solidFill>
                        <a:srgbClr val="395E89"/>
                      </a:solidFill>
                      <a:prstDash val="solid"/>
                    </a:lnR>
                    <a:lnT w="9525" cap="flat" cmpd="sng">
                      <a:solidFill>
                        <a:srgbClr val="395E89"/>
                      </a:solidFill>
                      <a:prstDash val="solid"/>
                    </a:lnT>
                    <a:lnB w="9525" cap="flat" cmpd="sng">
                      <a:solidFill>
                        <a:srgbClr val="395E89"/>
                      </a:solidFill>
                      <a:prstDash val="solid"/>
                    </a:lnB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anchor="ctr">
                    <a:solidFill>
                      <a:srgbClr val="F3F6FA"/>
                    </a:solidFill>
                    <a:lnL w="9525" cap="flat" cmpd="sng">
                      <a:solidFill>
                        <a:srgbClr val="395E89"/>
                      </a:solidFill>
                      <a:prstDash val="solid"/>
                    </a:lnL>
                    <a:lnR w="9525" cap="flat" cmpd="sng">
                      <a:solidFill>
                        <a:srgbClr val="395E89"/>
                      </a:solidFill>
                      <a:prstDash val="solid"/>
                    </a:lnR>
                    <a:lnT w="9525" cap="flat" cmpd="sng">
                      <a:solidFill>
                        <a:srgbClr val="395E89"/>
                      </a:solidFill>
                      <a:prstDash val="solid"/>
                    </a:lnT>
                    <a:lnB w="9525" cap="flat" cmpd="sng">
                      <a:solidFill>
                        <a:srgbClr val="395E89"/>
                      </a:solidFill>
                      <a:prstDash val="solid"/>
                    </a:lnB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anchor="ctr">
                    <a:solidFill>
                      <a:srgbClr val="F3F6FA"/>
                    </a:solidFill>
                    <a:lnL w="9525" cap="flat" cmpd="sng">
                      <a:solidFill>
                        <a:srgbClr val="395E89"/>
                      </a:solidFill>
                      <a:prstDash val="solid"/>
                    </a:lnL>
                    <a:lnR w="9525" cap="flat" cmpd="sng">
                      <a:solidFill>
                        <a:srgbClr val="395E89"/>
                      </a:solidFill>
                      <a:prstDash val="solid"/>
                    </a:lnR>
                    <a:lnT w="9525" cap="flat" cmpd="sng">
                      <a:solidFill>
                        <a:srgbClr val="395E89"/>
                      </a:solidFill>
                      <a:prstDash val="solid"/>
                    </a:lnT>
                    <a:lnB w="9525" cap="flat" cmpd="sng">
                      <a:solidFill>
                        <a:srgbClr val="395E89"/>
                      </a:solidFill>
                      <a:prstDash val="solid"/>
                    </a:lnB>
                  </a:tcPr>
                </a:tc>
              </a:tr>
              <a:tr h="208483">
                <a:tc>
                  <a:txBody>
                    <a:bodyPr wrap="square" lIns="36576" rIns="36576" tIns="27432" bIns="27432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</a:rPr>
                        <a:t>Memory-safe long runs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395E89"/>
                      </a:solidFill>
                      <a:prstDash val="solid"/>
                    </a:lnL>
                    <a:lnR w="9525" cap="flat" cmpd="sng">
                      <a:solidFill>
                        <a:srgbClr val="395E89"/>
                      </a:solidFill>
                      <a:prstDash val="solid"/>
                    </a:lnR>
                    <a:lnT w="9525" cap="flat" cmpd="sng">
                      <a:solidFill>
                        <a:srgbClr val="395E89"/>
                      </a:solidFill>
                      <a:prstDash val="solid"/>
                    </a:lnT>
                    <a:lnB w="9525" cap="flat" cmpd="sng">
                      <a:solidFill>
                        <a:srgbClr val="395E89"/>
                      </a:solidFill>
                      <a:prstDash val="solid"/>
                    </a:lnB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395E89"/>
                      </a:solidFill>
                      <a:prstDash val="solid"/>
                    </a:lnL>
                    <a:lnR w="9525" cap="flat" cmpd="sng">
                      <a:solidFill>
                        <a:srgbClr val="395E89"/>
                      </a:solidFill>
                      <a:prstDash val="solid"/>
                    </a:lnR>
                    <a:lnT w="9525" cap="flat" cmpd="sng">
                      <a:solidFill>
                        <a:srgbClr val="395E89"/>
                      </a:solidFill>
                      <a:prstDash val="solid"/>
                    </a:lnT>
                    <a:lnB w="9525" cap="flat" cmpd="sng">
                      <a:solidFill>
                        <a:srgbClr val="395E89"/>
                      </a:solidFill>
                      <a:prstDash val="solid"/>
                    </a:lnB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</a:rPr>
                        <a:t>■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395E89"/>
                      </a:solidFill>
                      <a:prstDash val="solid"/>
                    </a:lnL>
                    <a:lnR w="9525" cap="flat" cmpd="sng">
                      <a:solidFill>
                        <a:srgbClr val="395E89"/>
                      </a:solidFill>
                      <a:prstDash val="solid"/>
                    </a:lnR>
                    <a:lnT w="9525" cap="flat" cmpd="sng">
                      <a:solidFill>
                        <a:srgbClr val="395E89"/>
                      </a:solidFill>
                      <a:prstDash val="solid"/>
                    </a:lnT>
                    <a:lnB w="9525" cap="flat" cmpd="sng">
                      <a:solidFill>
                        <a:srgbClr val="395E89"/>
                      </a:solidFill>
                      <a:prstDash val="solid"/>
                    </a:lnB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395E89"/>
                      </a:solidFill>
                      <a:prstDash val="solid"/>
                    </a:lnL>
                    <a:lnR w="9525" cap="flat" cmpd="sng">
                      <a:solidFill>
                        <a:srgbClr val="395E89"/>
                      </a:solidFill>
                      <a:prstDash val="solid"/>
                    </a:lnR>
                    <a:lnT w="9525" cap="flat" cmpd="sng">
                      <a:solidFill>
                        <a:srgbClr val="395E89"/>
                      </a:solidFill>
                      <a:prstDash val="solid"/>
                    </a:lnT>
                    <a:lnB w="9525" cap="flat" cmpd="sng">
                      <a:solidFill>
                        <a:srgbClr val="395E89"/>
                      </a:solidFill>
                      <a:prstDash val="solid"/>
                    </a:lnB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395E89"/>
                      </a:solidFill>
                      <a:prstDash val="solid"/>
                    </a:lnL>
                    <a:lnR w="9525" cap="flat" cmpd="sng">
                      <a:solidFill>
                        <a:srgbClr val="395E89"/>
                      </a:solidFill>
                      <a:prstDash val="solid"/>
                    </a:lnR>
                    <a:lnT w="9525" cap="flat" cmpd="sng">
                      <a:solidFill>
                        <a:srgbClr val="395E89"/>
                      </a:solidFill>
                      <a:prstDash val="solid"/>
                    </a:lnT>
                    <a:lnB w="9525" cap="flat" cmpd="sng">
                      <a:solidFill>
                        <a:srgbClr val="395E89"/>
                      </a:solidFill>
                      <a:prstDash val="solid"/>
                    </a:lnB>
                  </a:tcPr>
                </a:tc>
              </a:tr>
              <a:tr h="208483">
                <a:tc>
                  <a:txBody>
                    <a:bodyPr wrap="square" lIns="36576" rIns="36576" tIns="27432" bIns="27432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</a:rPr>
                        <a:t>On-screen explanations</a:t>
                      </a:r>
                    </a:p>
                  </a:txBody>
                  <a:tcPr anchor="ctr">
                    <a:solidFill>
                      <a:srgbClr val="F3F6FA"/>
                    </a:solidFill>
                    <a:lnL w="9525" cap="flat" cmpd="sng">
                      <a:solidFill>
                        <a:srgbClr val="395E89"/>
                      </a:solidFill>
                      <a:prstDash val="solid"/>
                    </a:lnL>
                    <a:lnR w="9525" cap="flat" cmpd="sng">
                      <a:solidFill>
                        <a:srgbClr val="395E89"/>
                      </a:solidFill>
                      <a:prstDash val="solid"/>
                    </a:lnR>
                    <a:lnT w="9525" cap="flat" cmpd="sng">
                      <a:solidFill>
                        <a:srgbClr val="395E89"/>
                      </a:solidFill>
                      <a:prstDash val="solid"/>
                    </a:lnT>
                    <a:lnB w="9525" cap="flat" cmpd="sng">
                      <a:solidFill>
                        <a:srgbClr val="395E89"/>
                      </a:solidFill>
                      <a:prstDash val="solid"/>
                    </a:lnB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anchor="ctr">
                    <a:solidFill>
                      <a:srgbClr val="F3F6FA"/>
                    </a:solidFill>
                    <a:lnL w="9525" cap="flat" cmpd="sng">
                      <a:solidFill>
                        <a:srgbClr val="395E89"/>
                      </a:solidFill>
                      <a:prstDash val="solid"/>
                    </a:lnL>
                    <a:lnR w="9525" cap="flat" cmpd="sng">
                      <a:solidFill>
                        <a:srgbClr val="395E89"/>
                      </a:solidFill>
                      <a:prstDash val="solid"/>
                    </a:lnR>
                    <a:lnT w="9525" cap="flat" cmpd="sng">
                      <a:solidFill>
                        <a:srgbClr val="395E89"/>
                      </a:solidFill>
                      <a:prstDash val="solid"/>
                    </a:lnT>
                    <a:lnB w="9525" cap="flat" cmpd="sng">
                      <a:solidFill>
                        <a:srgbClr val="395E89"/>
                      </a:solidFill>
                      <a:prstDash val="solid"/>
                    </a:lnB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anchor="ctr">
                    <a:solidFill>
                      <a:srgbClr val="F3F6FA"/>
                    </a:solidFill>
                    <a:lnL w="9525" cap="flat" cmpd="sng">
                      <a:solidFill>
                        <a:srgbClr val="395E89"/>
                      </a:solidFill>
                      <a:prstDash val="solid"/>
                    </a:lnL>
                    <a:lnR w="9525" cap="flat" cmpd="sng">
                      <a:solidFill>
                        <a:srgbClr val="395E89"/>
                      </a:solidFill>
                      <a:prstDash val="solid"/>
                    </a:lnR>
                    <a:lnT w="9525" cap="flat" cmpd="sng">
                      <a:solidFill>
                        <a:srgbClr val="395E89"/>
                      </a:solidFill>
                      <a:prstDash val="solid"/>
                    </a:lnT>
                    <a:lnB w="9525" cap="flat" cmpd="sng">
                      <a:solidFill>
                        <a:srgbClr val="395E89"/>
                      </a:solidFill>
                      <a:prstDash val="solid"/>
                    </a:lnB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</a:rPr>
                        <a:t>■</a:t>
                      </a:r>
                    </a:p>
                  </a:txBody>
                  <a:tcPr anchor="ctr">
                    <a:solidFill>
                      <a:srgbClr val="F3F6FA"/>
                    </a:solidFill>
                    <a:lnL w="9525" cap="flat" cmpd="sng">
                      <a:solidFill>
                        <a:srgbClr val="395E89"/>
                      </a:solidFill>
                      <a:prstDash val="solid"/>
                    </a:lnL>
                    <a:lnR w="9525" cap="flat" cmpd="sng">
                      <a:solidFill>
                        <a:srgbClr val="395E89"/>
                      </a:solidFill>
                      <a:prstDash val="solid"/>
                    </a:lnR>
                    <a:lnT w="9525" cap="flat" cmpd="sng">
                      <a:solidFill>
                        <a:srgbClr val="395E89"/>
                      </a:solidFill>
                      <a:prstDash val="solid"/>
                    </a:lnT>
                    <a:lnB w="9525" cap="flat" cmpd="sng">
                      <a:solidFill>
                        <a:srgbClr val="395E89"/>
                      </a:solidFill>
                      <a:prstDash val="solid"/>
                    </a:lnB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anchor="ctr">
                    <a:solidFill>
                      <a:srgbClr val="F3F6FA"/>
                    </a:solidFill>
                    <a:lnL w="9525" cap="flat" cmpd="sng">
                      <a:solidFill>
                        <a:srgbClr val="395E89"/>
                      </a:solidFill>
                      <a:prstDash val="solid"/>
                    </a:lnL>
                    <a:lnR w="9525" cap="flat" cmpd="sng">
                      <a:solidFill>
                        <a:srgbClr val="395E89"/>
                      </a:solidFill>
                      <a:prstDash val="solid"/>
                    </a:lnR>
                    <a:lnT w="9525" cap="flat" cmpd="sng">
                      <a:solidFill>
                        <a:srgbClr val="395E89"/>
                      </a:solidFill>
                      <a:prstDash val="solid"/>
                    </a:lnT>
                    <a:lnB w="9525" cap="flat" cmpd="sng">
                      <a:solidFill>
                        <a:srgbClr val="395E89"/>
                      </a:solidFill>
                      <a:prstDash val="solid"/>
                    </a:lnB>
                  </a:tcPr>
                </a:tc>
              </a:tr>
              <a:tr h="208483">
                <a:tc>
                  <a:txBody>
                    <a:bodyPr wrap="square" lIns="36576" rIns="36576" tIns="27432" bIns="27432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</a:rPr>
                        <a:t>Thesis draft and demo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395E89"/>
                      </a:solidFill>
                      <a:prstDash val="solid"/>
                    </a:lnL>
                    <a:lnR w="9525" cap="flat" cmpd="sng">
                      <a:solidFill>
                        <a:srgbClr val="395E89"/>
                      </a:solidFill>
                      <a:prstDash val="solid"/>
                    </a:lnR>
                    <a:lnT w="9525" cap="flat" cmpd="sng">
                      <a:solidFill>
                        <a:srgbClr val="395E89"/>
                      </a:solidFill>
                      <a:prstDash val="solid"/>
                    </a:lnT>
                    <a:lnB w="9525" cap="flat" cmpd="sng">
                      <a:solidFill>
                        <a:srgbClr val="395E89"/>
                      </a:solidFill>
                      <a:prstDash val="solid"/>
                    </a:lnB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395E89"/>
                      </a:solidFill>
                      <a:prstDash val="solid"/>
                    </a:lnL>
                    <a:lnR w="9525" cap="flat" cmpd="sng">
                      <a:solidFill>
                        <a:srgbClr val="395E89"/>
                      </a:solidFill>
                      <a:prstDash val="solid"/>
                    </a:lnR>
                    <a:lnT w="9525" cap="flat" cmpd="sng">
                      <a:solidFill>
                        <a:srgbClr val="395E89"/>
                      </a:solidFill>
                      <a:prstDash val="solid"/>
                    </a:lnT>
                    <a:lnB w="9525" cap="flat" cmpd="sng">
                      <a:solidFill>
                        <a:srgbClr val="395E89"/>
                      </a:solidFill>
                      <a:prstDash val="solid"/>
                    </a:lnB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395E89"/>
                      </a:solidFill>
                      <a:prstDash val="solid"/>
                    </a:lnL>
                    <a:lnR w="9525" cap="flat" cmpd="sng">
                      <a:solidFill>
                        <a:srgbClr val="395E89"/>
                      </a:solidFill>
                      <a:prstDash val="solid"/>
                    </a:lnR>
                    <a:lnT w="9525" cap="flat" cmpd="sng">
                      <a:solidFill>
                        <a:srgbClr val="395E89"/>
                      </a:solidFill>
                      <a:prstDash val="solid"/>
                    </a:lnT>
                    <a:lnB w="9525" cap="flat" cmpd="sng">
                      <a:solidFill>
                        <a:srgbClr val="395E89"/>
                      </a:solidFill>
                      <a:prstDash val="solid"/>
                    </a:lnB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395E89"/>
                      </a:solidFill>
                      <a:prstDash val="solid"/>
                    </a:lnL>
                    <a:lnR w="9525" cap="flat" cmpd="sng">
                      <a:solidFill>
                        <a:srgbClr val="395E89"/>
                      </a:solidFill>
                      <a:prstDash val="solid"/>
                    </a:lnR>
                    <a:lnT w="9525" cap="flat" cmpd="sng">
                      <a:solidFill>
                        <a:srgbClr val="395E89"/>
                      </a:solidFill>
                      <a:prstDash val="solid"/>
                    </a:lnT>
                    <a:lnB w="9525" cap="flat" cmpd="sng">
                      <a:solidFill>
                        <a:srgbClr val="395E89"/>
                      </a:solidFill>
                      <a:prstDash val="solid"/>
                    </a:lnB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</a:rPr>
                        <a:t>■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395E89"/>
                      </a:solidFill>
                      <a:prstDash val="solid"/>
                    </a:lnL>
                    <a:lnR w="9525" cap="flat" cmpd="sng">
                      <a:solidFill>
                        <a:srgbClr val="395E89"/>
                      </a:solidFill>
                      <a:prstDash val="solid"/>
                    </a:lnR>
                    <a:lnT w="9525" cap="flat" cmpd="sng">
                      <a:solidFill>
                        <a:srgbClr val="395E89"/>
                      </a:solidFill>
                      <a:prstDash val="solid"/>
                    </a:lnT>
                    <a:lnB w="9525" cap="flat" cmpd="sng">
                      <a:solidFill>
                        <a:srgbClr val="395E89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57" name="Connector 56"/>
          <p:cNvCxnSpPr/>
          <p:nvPr/>
        </p:nvCxnSpPr>
        <p:spPr>
          <a:xfrm>
            <a:off x="201168" y="10533888"/>
            <a:ext cx="9198864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201168" y="10570464"/>
            <a:ext cx="9198864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References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01168" y="10844784"/>
            <a:ext cx="9217152" cy="1874519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[1]  G. A. Di Luna and G. Viglietta, “Computing in Anonymous Dynamic Networks Is Linear,” Proc. 63rd IEEE FOCS, pp. 1122–1133, 2022.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[2]  G. Viglietta, “History Trees and Their Applications,” Proc. SIROCCO 2024, LNCS 14662, pp. 3–23, Springer, 2024.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[3]  N. Santoro, Design and Analysis of Distributed Algorithms, Wiley Series on Parallel and Distributed Computing, Wiley-Interscience, 2007.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[4]  K. Hamao, Anonymous Dynamic Network Simulator. https://kazane1225.github.io/Research_NetworkSimulater/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Efficient Simulation and Visualization of History Trees for Dynamic Networks</dc:title>
  <dc:subject>STSA midterm poster</dc:subject>
  <dc:creator>Kazane Hamao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