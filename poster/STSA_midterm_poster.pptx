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601200" cy="12801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Optimized</c:v>
                </c:pt>
              </c:strCache>
            </c:strRef>
          </c:tx>
          <c:spPr>
            <a:solidFill>
              <a:srgbClr val="4F81BD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50</c:v>
                </c:pt>
                <c:pt idx="1">
                  <c:v>100</c:v>
                </c:pt>
                <c:pt idx="2">
                  <c:v>150</c:v>
                </c:pt>
                <c:pt idx="3">
                  <c:v>200</c:v>
                </c:pt>
                <c:pt idx="4">
                  <c:v>250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104.4</c:v>
                </c:pt>
                <c:pt idx="1">
                  <c:v>104.4</c:v>
                </c:pt>
                <c:pt idx="2">
                  <c:v>109.0</c:v>
                </c:pt>
                <c:pt idx="3">
                  <c:v>141.2</c:v>
                </c:pt>
                <c:pt idx="4">
                  <c:v>164.2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Previous</c:v>
                </c:pt>
              </c:strCache>
            </c:strRef>
          </c:tx>
          <c:spPr>
            <a:solidFill>
              <a:srgbClr val="C0504D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50</c:v>
                </c:pt>
                <c:pt idx="1">
                  <c:v>100</c:v>
                </c:pt>
                <c:pt idx="2">
                  <c:v>150</c:v>
                </c:pt>
                <c:pt idx="3">
                  <c:v>200</c:v>
                </c:pt>
                <c:pt idx="4">
                  <c:v>250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134.6</c:v>
                </c:pt>
                <c:pt idx="1">
                  <c:v>603.3</c:v>
                </c:pt>
                <c:pt idx="2">
                  <c:v>1445.8</c:v>
                </c:pt>
                <c:pt idx="3">
                  <c:v>2677.3</c:v>
                </c:pt>
                <c:pt idx="4">
                  <c:v>4319.3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068027336"/>
        <c:crosses val="autoZero"/>
      </c:valAx>
    </c:plotArea>
    <c:legend>
      <c:overlay val="0"/>
      <c:txPr>
        <a:bodyPr/>
        <a:lstStyle/>
        <a:p>
          <a:pPr>
            <a:defRPr sz="1100"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109728"/>
            <a:ext cx="9272016" cy="1261872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64592"/>
            <a:ext cx="7360920" cy="713232"/>
          </a:xfrm>
          <a:prstGeom prst="rect">
            <a:avLst/>
          </a:prstGeom>
          <a:noFill/>
        </p:spPr>
        <p:txBody>
          <a:bodyPr wrap="square" lIns="0" rIns="0" tIns="27432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Efficient Simulation and Visualization of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History Trees for Dynamic Networks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932688"/>
            <a:ext cx="7360920" cy="329184"/>
          </a:xfrm>
          <a:prstGeom prst="rect">
            <a:avLst/>
          </a:prstGeom>
          <a:noFill/>
        </p:spPr>
        <p:txBody>
          <a:bodyPr wrap="square" lIns="0" rIns="0" tIns="27432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s1310193 Kazane Hamao      Supervisor: Giovanni Viglietta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256032"/>
            <a:ext cx="1499616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395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438912"/>
            <a:ext cx="1499616" cy="603504"/>
          </a:xfrm>
          <a:prstGeom prst="rect">
            <a:avLst/>
          </a:prstGeom>
          <a:noFill/>
        </p:spPr>
        <p:txBody>
          <a:bodyPr wrap="square" lIns="18288" rIns="18288" tIns="27432" bIns="18288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395E89"/>
                </a:solidFill>
                <a:latin typeface="Arial"/>
                <a:ea typeface="Arial"/>
                <a:cs typeface="Arial"/>
              </a:rPr>
              <a:t>Supervisor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95E89"/>
                </a:solidFill>
                <a:latin typeface="Arial"/>
                <a:ea typeface="Arial"/>
                <a:cs typeface="Arial"/>
              </a:rPr>
              <a:t>seal / signature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773168" y="1499616"/>
            <a:ext cx="0" cy="8814816"/>
          </a:xfrm>
          <a:prstGeom prst="line">
            <a:avLst/>
          </a:prstGeom>
          <a:ln w="28575">
            <a:solidFill>
              <a:srgbClr val="4F81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19456" y="1499616"/>
            <a:ext cx="4370832" cy="292608"/>
          </a:xfrm>
          <a:prstGeom prst="rect">
            <a:avLst/>
          </a:prstGeom>
          <a:noFill/>
        </p:spPr>
        <p:txBody>
          <a:bodyPr wrap="square" lIns="0" rIns="0" tIns="27432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 Introduction and Background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9456" y="1792224"/>
            <a:ext cx="4370832" cy="0"/>
          </a:xfrm>
          <a:prstGeom prst="line">
            <a:avLst/>
          </a:prstGeom>
          <a:ln w="1460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19456" y="1837943"/>
            <a:ext cx="4370832" cy="1642872"/>
          </a:xfrm>
          <a:prstGeom prst="rect">
            <a:avLst/>
          </a:prstGeom>
          <a:noFill/>
        </p:spPr>
        <p:txBody>
          <a:bodyPr wrap="square" lIns="45720" rIns="45720" tIns="27432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•  No IDs. Every agent runs the same program.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•  Broadcast only. Links can change each round.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•  History tree: one node per group at round t.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•  a(v) is how many agents share that node.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•  One leader: n settles by 2n−2 [1], [2].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•  A proof of n takes until round 3n−2 [1].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•  This work draws that tree and stays fast.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9456" y="3553968"/>
            <a:ext cx="4370832" cy="1258316"/>
          </a:xfrm>
          <a:prstGeom prst="rect">
            <a:avLst/>
          </a:prstGeom>
          <a:solidFill>
            <a:srgbClr val="E7EEF7"/>
          </a:solidFill>
          <a:ln w="12700">
            <a:solidFill>
              <a:srgbClr val="395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3572256"/>
            <a:ext cx="4261104" cy="1221740"/>
          </a:xfrm>
          <a:prstGeom prst="rect">
            <a:avLst/>
          </a:prstGeom>
          <a:noFill/>
        </p:spPr>
        <p:txBody>
          <a:bodyPr wrap="square" lIns="27432" rIns="27432" tIns="27432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F497D"/>
                </a:solidFill>
                <a:latin typeface="Arial"/>
                <a:ea typeface="Arial"/>
                <a:cs typeface="Arial"/>
              </a:rPr>
              <a:t>Reading a history tree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•  Black edge — a class splits.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•  Red edge — messages of that round.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•  Vista — the part one agent can build.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•  Anonymity 1 — the agent is unique.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" y="4903724"/>
            <a:ext cx="4370832" cy="292608"/>
          </a:xfrm>
          <a:prstGeom prst="rect">
            <a:avLst/>
          </a:prstGeom>
          <a:noFill/>
        </p:spPr>
        <p:txBody>
          <a:bodyPr wrap="square" lIns="0" rIns="0" tIns="27432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 Approach / Methodology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9456" y="5196332"/>
            <a:ext cx="4370832" cy="0"/>
          </a:xfrm>
          <a:prstGeom prst="line">
            <a:avLst/>
          </a:prstGeom>
          <a:ln w="1460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19456" y="5242052"/>
            <a:ext cx="4370832" cy="3296920"/>
          </a:xfrm>
          <a:prstGeom prst="rect">
            <a:avLst/>
          </a:prstGeom>
          <a:noFill/>
        </p:spPr>
        <p:txBody>
          <a:bodyPr wrap="square" lIns="45720" rIns="45720" tIns="27432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F497D"/>
                </a:solidFill>
                <a:latin typeface="Arial"/>
                <a:ea typeface="Arial"/>
                <a:cs typeface="Arial"/>
              </a:rPr>
              <a:t>2.1 Model — same setting as [1].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•  Undirected dynamic graph, one leader.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•  Leader input is 0. No port labels.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F497D"/>
                </a:solidFill>
                <a:latin typeface="Arial"/>
                <a:ea typeface="Arial"/>
                <a:cs typeface="Arial"/>
              </a:rPr>
              <a:t>2.2 Program.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•  C code, compiled to WebAssembly.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•  Left: network. Right: colored tree.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F497D"/>
                </a:solidFill>
                <a:latin typeface="Arial"/>
                <a:ea typeface="Arial"/>
                <a:cs typeface="Arial"/>
              </a:rPr>
              <a:t>https://kazane1225.github.io/Research_NetworkSimulater/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F497D"/>
                </a:solidFill>
                <a:latin typeface="Arial"/>
                <a:ea typeface="Arial"/>
                <a:cs typeface="Arial"/>
              </a:rPr>
              <a:t>2.3 Speed.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•  Last-round append: O(R n²) → O(n²).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•  Merged tree grows by one level only.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•  A middle edit replays only the suffix.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•  Hash-map merge skips identical trees.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•  Recursion crashed near 2,000 rounds;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   that walk is now a loop.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9456" y="8612124"/>
            <a:ext cx="4370832" cy="1702307"/>
          </a:xfrm>
          <a:prstGeom prst="rect">
            <a:avLst/>
          </a:prstGeom>
          <a:solidFill>
            <a:srgbClr val="FFFFFF"/>
          </a:solidFill>
          <a:ln w="12700">
            <a:solidFill>
              <a:srgbClr val="395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572768" y="8685276"/>
            <a:ext cx="1600200" cy="310896"/>
          </a:xfrm>
          <a:prstGeom prst="rect">
            <a:avLst/>
          </a:prstGeom>
          <a:solidFill>
            <a:srgbClr val="E7EEF7"/>
          </a:solidFill>
          <a:ln w="14604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72768" y="8685276"/>
            <a:ext cx="1600200" cy="310896"/>
          </a:xfrm>
          <a:prstGeom prst="rect">
            <a:avLst/>
          </a:prstGeom>
          <a:noFill/>
        </p:spPr>
        <p:txBody>
          <a:bodyPr wrap="square" lIns="18288" rIns="18288" tIns="27432" bIns="18288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    all agents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9037137"/>
            <a:ext cx="1691640" cy="310896"/>
          </a:xfrm>
          <a:prstGeom prst="rect">
            <a:avLst/>
          </a:prstGeom>
          <a:solidFill>
            <a:srgbClr val="E7EEF7"/>
          </a:solidFill>
          <a:ln w="14604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9037137"/>
            <a:ext cx="1691640" cy="310896"/>
          </a:xfrm>
          <a:prstGeom prst="rect">
            <a:avLst/>
          </a:prstGeom>
          <a:noFill/>
        </p:spPr>
        <p:txBody>
          <a:bodyPr wrap="square" lIns="18288" rIns="18288" tIns="27432" bIns="18288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leader    a = 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97480" y="9037137"/>
            <a:ext cx="1737360" cy="310896"/>
          </a:xfrm>
          <a:prstGeom prst="rect">
            <a:avLst/>
          </a:prstGeom>
          <a:solidFill>
            <a:srgbClr val="E7EEF7"/>
          </a:solidFill>
          <a:ln w="14604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97480" y="9037137"/>
            <a:ext cx="1737360" cy="310896"/>
          </a:xfrm>
          <a:prstGeom prst="rect">
            <a:avLst/>
          </a:prstGeom>
          <a:noFill/>
        </p:spPr>
        <p:txBody>
          <a:bodyPr wrap="square" lIns="18288" rIns="18288" tIns="27432" bIns="18288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others   a = n−1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9418319"/>
            <a:ext cx="1280160" cy="310896"/>
          </a:xfrm>
          <a:prstGeom prst="rect">
            <a:avLst/>
          </a:prstGeom>
          <a:solidFill>
            <a:srgbClr val="C6EFCE"/>
          </a:solidFill>
          <a:ln w="14604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9418319"/>
            <a:ext cx="1280160" cy="310896"/>
          </a:xfrm>
          <a:prstGeom prst="rect">
            <a:avLst/>
          </a:prstGeom>
          <a:noFill/>
        </p:spPr>
        <p:txBody>
          <a:bodyPr wrap="square" lIns="18288" rIns="18288" tIns="27432" bIns="18288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leader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06040" y="9418319"/>
            <a:ext cx="822960" cy="310896"/>
          </a:xfrm>
          <a:prstGeom prst="rect">
            <a:avLst/>
          </a:prstGeom>
          <a:solidFill>
            <a:srgbClr val="FFF2CC"/>
          </a:solidFill>
          <a:ln w="14604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06040" y="9418319"/>
            <a:ext cx="822960" cy="310896"/>
          </a:xfrm>
          <a:prstGeom prst="rect">
            <a:avLst/>
          </a:prstGeom>
          <a:noFill/>
        </p:spPr>
        <p:txBody>
          <a:bodyPr wrap="square" lIns="18288" rIns="18288" tIns="27432" bIns="18288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66160" y="9418319"/>
            <a:ext cx="822960" cy="310896"/>
          </a:xfrm>
          <a:prstGeom prst="rect">
            <a:avLst/>
          </a:prstGeom>
          <a:solidFill>
            <a:srgbClr val="FFF2CC"/>
          </a:solidFill>
          <a:ln w="14604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66160" y="9418319"/>
            <a:ext cx="822960" cy="310896"/>
          </a:xfrm>
          <a:prstGeom prst="rect">
            <a:avLst/>
          </a:prstGeom>
          <a:noFill/>
        </p:spPr>
        <p:txBody>
          <a:bodyPr wrap="square" lIns="18288" rIns="18288" tIns="27432" bIns="18288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377440" y="9014460"/>
            <a:ext cx="0" cy="2194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207008" y="9016654"/>
            <a:ext cx="1170432" cy="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207008" y="9016654"/>
            <a:ext cx="0" cy="2195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2377440" y="9016654"/>
            <a:ext cx="1188720" cy="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566160" y="9016654"/>
            <a:ext cx="0" cy="2195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207008" y="9366321"/>
            <a:ext cx="0" cy="33711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66160" y="9366321"/>
            <a:ext cx="0" cy="16855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017520" y="9383176"/>
            <a:ext cx="548640" cy="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017520" y="9383176"/>
            <a:ext cx="0" cy="16856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3566160" y="9383176"/>
            <a:ext cx="411479" cy="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77639" y="9383176"/>
            <a:ext cx="0" cy="16856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057400" y="9192585"/>
            <a:ext cx="210312" cy="0"/>
          </a:xfrm>
          <a:prstGeom prst="line">
            <a:avLst/>
          </a:prstGeom>
          <a:ln w="22225">
            <a:solidFill>
              <a:srgbClr val="C05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267712" y="9192585"/>
            <a:ext cx="0" cy="381182"/>
          </a:xfrm>
          <a:prstGeom prst="line">
            <a:avLst/>
          </a:prstGeom>
          <a:ln w="22225">
            <a:solidFill>
              <a:srgbClr val="C05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267712" y="9573767"/>
            <a:ext cx="219456" cy="0"/>
          </a:xfrm>
          <a:prstGeom prst="line">
            <a:avLst/>
          </a:prstGeom>
          <a:ln w="22225">
            <a:solidFill>
              <a:srgbClr val="C05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292608" y="9784080"/>
            <a:ext cx="4224528" cy="493775"/>
          </a:xfrm>
          <a:prstGeom prst="rect">
            <a:avLst/>
          </a:prstGeom>
          <a:noFill/>
        </p:spPr>
        <p:txBody>
          <a:bodyPr wrap="square" lIns="18288" rIns="18288" tIns="27432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395E89"/>
                </a:solidFill>
                <a:latin typeface="Arial"/>
                <a:ea typeface="Arial"/>
                <a:cs typeface="Arial"/>
              </a:rPr>
              <a:t>Fig. 2. Black edges split classes. The red edge is a message.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37760" y="1499616"/>
            <a:ext cx="4462272" cy="292608"/>
          </a:xfrm>
          <a:prstGeom prst="rect">
            <a:avLst/>
          </a:prstGeom>
          <a:noFill/>
        </p:spPr>
        <p:txBody>
          <a:bodyPr wrap="square" lIns="0" rIns="0" tIns="27432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3. Current Results and Status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4937760" y="1792224"/>
            <a:ext cx="4462272" cy="0"/>
          </a:xfrm>
          <a:prstGeom prst="line">
            <a:avLst/>
          </a:prstGeom>
          <a:ln w="1460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4937760" y="1837943"/>
            <a:ext cx="4462272" cy="2094992"/>
          </a:xfrm>
          <a:prstGeom prst="rect">
            <a:avLst/>
          </a:prstGeom>
          <a:noFill/>
        </p:spPr>
        <p:txBody>
          <a:bodyPr wrap="square" lIns="45720" rIns="45720" tIns="27432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Tutorial network, 6 agents, same machine.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•  Append 1→250: 1.30 s vs 16.2 s (~12×).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•  After 200 rounds: 6.5 ms vs 156 ms.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•  Insert near the start, to 250 rounds: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   2.53 s vs 16.9 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•  Append at 5,000 rounds: still ~224 ms.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•  Insert hits 1 s/click near 3,250 rounds.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•  Deep insert no longer crashes.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•  A 1,199-round suffix still takes ~12.5 s.</a:t>
            </a:r>
          </a:p>
        </p:txBody>
      </p:sp>
      <p:graphicFrame>
        <p:nvGraphicFramePr>
          <p:cNvPr id="48" name="Chart 47"/>
          <p:cNvGraphicFramePr>
            <a:graphicFrameLocks noGrp="1"/>
          </p:cNvGraphicFramePr>
          <p:nvPr/>
        </p:nvGraphicFramePr>
        <p:xfrm>
          <a:off x="4937760" y="3969512"/>
          <a:ext cx="4462272" cy="126187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9" name="TextBox 48"/>
          <p:cNvSpPr txBox="1"/>
          <p:nvPr/>
        </p:nvSpPr>
        <p:spPr>
          <a:xfrm>
            <a:off x="4937760" y="5258816"/>
            <a:ext cx="4462272" cy="442976"/>
          </a:xfrm>
          <a:prstGeom prst="rect">
            <a:avLst/>
          </a:prstGeom>
          <a:noFill/>
        </p:spPr>
        <p:txBody>
          <a:bodyPr wrap="square" lIns="45720" rIns="45720" tIns="27432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395E89"/>
                </a:solidFill>
                <a:latin typeface="Arial"/>
                <a:ea typeface="Arial"/>
                <a:cs typeface="Arial"/>
              </a:rPr>
              <a:t>Fig. 1. ms per 25 rounds. Blue stays under 170; red grows past 4,000.</a:t>
            </a:r>
          </a:p>
        </p:txBody>
      </p:sp>
      <p:graphicFrame>
        <p:nvGraphicFramePr>
          <p:cNvPr id="50" name="Table 49"/>
          <p:cNvGraphicFramePr>
            <a:graphicFrameLocks noGrp="1"/>
          </p:cNvGraphicFramePr>
          <p:nvPr/>
        </p:nvGraphicFramePr>
        <p:xfrm>
          <a:off x="4937760" y="5756656"/>
          <a:ext cx="4462272" cy="12984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554480"/>
                <a:gridCol w="1581912"/>
              </a:tblGrid>
              <a:tr h="259689"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anchor="ctr">
                    <a:solidFill>
                      <a:srgbClr val="1F497D"/>
                    </a:solidFill>
                    <a:lnL w="9525">
                      <a:solidFill>
                        <a:srgbClr val="395E89"/>
                      </a:solidFill>
                    </a:lnL>
                    <a:lnR w="9525">
                      <a:solidFill>
                        <a:srgbClr val="395E89"/>
                      </a:solidFill>
                    </a:lnR>
                    <a:lnT w="9525">
                      <a:solidFill>
                        <a:srgbClr val="395E89"/>
                      </a:solidFill>
                    </a:lnT>
                    <a:lnB w="9525">
                      <a:solidFill>
                        <a:srgbClr val="395E89"/>
                      </a:solidFill>
                    </a:lnB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Stabilizing</a:t>
                      </a:r>
                    </a:p>
                  </a:txBody>
                  <a:tcPr anchor="ctr">
                    <a:solidFill>
                      <a:srgbClr val="1F497D"/>
                    </a:solidFill>
                    <a:lnL w="9525">
                      <a:solidFill>
                        <a:srgbClr val="395E89"/>
                      </a:solidFill>
                    </a:lnL>
                    <a:lnR w="9525">
                      <a:solidFill>
                        <a:srgbClr val="395E89"/>
                      </a:solidFill>
                    </a:lnR>
                    <a:lnT w="9525">
                      <a:solidFill>
                        <a:srgbClr val="395E89"/>
                      </a:solidFill>
                    </a:lnT>
                    <a:lnB w="9525">
                      <a:solidFill>
                        <a:srgbClr val="395E89"/>
                      </a:solidFill>
                    </a:lnB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Terminating</a:t>
                      </a:r>
                    </a:p>
                  </a:txBody>
                  <a:tcPr anchor="ctr">
                    <a:solidFill>
                      <a:srgbClr val="1F497D"/>
                    </a:solidFill>
                    <a:lnL w="9525">
                      <a:solidFill>
                        <a:srgbClr val="395E89"/>
                      </a:solidFill>
                    </a:lnL>
                    <a:lnR w="9525">
                      <a:solidFill>
                        <a:srgbClr val="395E89"/>
                      </a:solidFill>
                    </a:lnR>
                    <a:lnT w="9525">
                      <a:solidFill>
                        <a:srgbClr val="395E89"/>
                      </a:solidFill>
                    </a:lnT>
                    <a:lnB w="9525">
                      <a:solidFill>
                        <a:srgbClr val="395E89"/>
                      </a:solidFill>
                    </a:lnB>
                  </a:tcPr>
                </a:tc>
              </a:tr>
              <a:tr h="259689"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Correct n by</a:t>
                      </a:r>
                    </a:p>
                  </a:txBody>
                  <a:tcPr anchor="ctr">
                    <a:solidFill>
                      <a:srgbClr val="F3F6FA"/>
                    </a:solidFill>
                    <a:lnL w="9525">
                      <a:solidFill>
                        <a:srgbClr val="395E89"/>
                      </a:solidFill>
                    </a:lnL>
                    <a:lnR w="9525">
                      <a:solidFill>
                        <a:srgbClr val="395E89"/>
                      </a:solidFill>
                    </a:lnR>
                    <a:lnT w="9525">
                      <a:solidFill>
                        <a:srgbClr val="395E89"/>
                      </a:solidFill>
                    </a:lnT>
                    <a:lnB w="9525">
                      <a:solidFill>
                        <a:srgbClr val="395E89"/>
                      </a:solidFill>
                    </a:lnB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round 2n − 2</a:t>
                      </a:r>
                    </a:p>
                  </a:txBody>
                  <a:tcPr anchor="ctr">
                    <a:solidFill>
                      <a:srgbClr val="F3F6FA"/>
                    </a:solidFill>
                    <a:lnL w="9525">
                      <a:solidFill>
                        <a:srgbClr val="395E89"/>
                      </a:solidFill>
                    </a:lnL>
                    <a:lnR w="9525">
                      <a:solidFill>
                        <a:srgbClr val="395E89"/>
                      </a:solidFill>
                    </a:lnR>
                    <a:lnT w="9525">
                      <a:solidFill>
                        <a:srgbClr val="395E89"/>
                      </a:solidFill>
                    </a:lnT>
                    <a:lnB w="9525">
                      <a:solidFill>
                        <a:srgbClr val="395E89"/>
                      </a:solidFill>
                    </a:lnB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round 3n − 2</a:t>
                      </a:r>
                    </a:p>
                  </a:txBody>
                  <a:tcPr anchor="ctr">
                    <a:solidFill>
                      <a:srgbClr val="F3F6FA"/>
                    </a:solidFill>
                    <a:lnL w="9525">
                      <a:solidFill>
                        <a:srgbClr val="395E89"/>
                      </a:solidFill>
                    </a:lnL>
                    <a:lnR w="9525">
                      <a:solidFill>
                        <a:srgbClr val="395E89"/>
                      </a:solidFill>
                    </a:lnR>
                    <a:lnT w="9525">
                      <a:solidFill>
                        <a:srgbClr val="395E89"/>
                      </a:solidFill>
                    </a:lnT>
                    <a:lnB w="9525">
                      <a:solidFill>
                        <a:srgbClr val="395E89"/>
                      </a:solidFill>
                    </a:lnB>
                  </a:tcPr>
                </a:tc>
              </a:tr>
              <a:tr h="259689"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Wrong n shown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>
                      <a:solidFill>
                        <a:srgbClr val="395E89"/>
                      </a:solidFill>
                    </a:lnL>
                    <a:lnR w="9525">
                      <a:solidFill>
                        <a:srgbClr val="395E89"/>
                      </a:solidFill>
                    </a:lnR>
                    <a:lnT w="9525">
                      <a:solidFill>
                        <a:srgbClr val="395E89"/>
                      </a:solidFill>
                    </a:lnT>
                    <a:lnB w="9525">
                      <a:solidFill>
                        <a:srgbClr val="395E89"/>
                      </a:solidFill>
                    </a:lnB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possible early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>
                      <a:solidFill>
                        <a:srgbClr val="395E89"/>
                      </a:solidFill>
                    </a:lnL>
                    <a:lnR w="9525">
                      <a:solidFill>
                        <a:srgbClr val="395E89"/>
                      </a:solidFill>
                    </a:lnR>
                    <a:lnT w="9525">
                      <a:solidFill>
                        <a:srgbClr val="395E89"/>
                      </a:solidFill>
                    </a:lnT>
                    <a:lnB w="9525">
                      <a:solidFill>
                        <a:srgbClr val="395E89"/>
                      </a:solidFill>
                    </a:lnB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not confirmed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>
                      <a:solidFill>
                        <a:srgbClr val="395E89"/>
                      </a:solidFill>
                    </a:lnL>
                    <a:lnR w="9525">
                      <a:solidFill>
                        <a:srgbClr val="395E89"/>
                      </a:solidFill>
                    </a:lnR>
                    <a:lnT w="9525">
                      <a:solidFill>
                        <a:srgbClr val="395E89"/>
                      </a:solidFill>
                    </a:lnT>
                    <a:lnB w="9525">
                      <a:solidFill>
                        <a:srgbClr val="395E89"/>
                      </a:solidFill>
                    </a:lnB>
                  </a:tcPr>
                </a:tc>
              </a:tr>
              <a:tr h="259689"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Does it stop?</a:t>
                      </a:r>
                    </a:p>
                  </a:txBody>
                  <a:tcPr anchor="ctr">
                    <a:solidFill>
                      <a:srgbClr val="F3F6FA"/>
                    </a:solidFill>
                    <a:lnL w="9525">
                      <a:solidFill>
                        <a:srgbClr val="395E89"/>
                      </a:solidFill>
                    </a:lnL>
                    <a:lnR w="9525">
                      <a:solidFill>
                        <a:srgbClr val="395E89"/>
                      </a:solidFill>
                    </a:lnR>
                    <a:lnT w="9525">
                      <a:solidFill>
                        <a:srgbClr val="395E89"/>
                      </a:solidFill>
                    </a:lnT>
                    <a:lnB w="9525">
                      <a:solidFill>
                        <a:srgbClr val="395E89"/>
                      </a:solidFill>
                    </a:lnB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anchor="ctr">
                    <a:solidFill>
                      <a:srgbClr val="F3F6FA"/>
                    </a:solidFill>
                    <a:lnL w="9525">
                      <a:solidFill>
                        <a:srgbClr val="395E89"/>
                      </a:solidFill>
                    </a:lnL>
                    <a:lnR w="9525">
                      <a:solidFill>
                        <a:srgbClr val="395E89"/>
                      </a:solidFill>
                    </a:lnR>
                    <a:lnT w="9525">
                      <a:solidFill>
                        <a:srgbClr val="395E89"/>
                      </a:solidFill>
                    </a:lnT>
                    <a:lnB w="9525">
                      <a:solidFill>
                        <a:srgbClr val="395E89"/>
                      </a:solidFill>
                    </a:lnB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Yes, with proof</a:t>
                      </a:r>
                    </a:p>
                  </a:txBody>
                  <a:tcPr anchor="ctr">
                    <a:solidFill>
                      <a:srgbClr val="F3F6FA"/>
                    </a:solidFill>
                    <a:lnL w="9525">
                      <a:solidFill>
                        <a:srgbClr val="395E89"/>
                      </a:solidFill>
                    </a:lnL>
                    <a:lnR w="9525">
                      <a:solidFill>
                        <a:srgbClr val="395E89"/>
                      </a:solidFill>
                    </a:lnR>
                    <a:lnT w="9525">
                      <a:solidFill>
                        <a:srgbClr val="395E89"/>
                      </a:solidFill>
                    </a:lnT>
                    <a:lnB w="9525">
                      <a:solidFill>
                        <a:srgbClr val="395E89"/>
                      </a:solidFill>
                    </a:lnB>
                  </a:tcPr>
                </a:tc>
              </a:tr>
              <a:tr h="259689"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In this app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>
                      <a:solidFill>
                        <a:srgbClr val="395E89"/>
                      </a:solidFill>
                    </a:lnL>
                    <a:lnR w="9525">
                      <a:solidFill>
                        <a:srgbClr val="395E89"/>
                      </a:solidFill>
                    </a:lnR>
                    <a:lnT w="9525">
                      <a:solidFill>
                        <a:srgbClr val="395E89"/>
                      </a:solidFill>
                    </a:lnT>
                    <a:lnB w="9525">
                      <a:solidFill>
                        <a:srgbClr val="395E89"/>
                      </a:solidFill>
                    </a:lnB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>
                      <a:solidFill>
                        <a:srgbClr val="395E89"/>
                      </a:solidFill>
                    </a:lnL>
                    <a:lnR w="9525">
                      <a:solidFill>
                        <a:srgbClr val="395E89"/>
                      </a:solidFill>
                    </a:lnR>
                    <a:lnT w="9525">
                      <a:solidFill>
                        <a:srgbClr val="395E89"/>
                      </a:solidFill>
                    </a:lnT>
                    <a:lnB w="9525">
                      <a:solidFill>
                        <a:srgbClr val="395E89"/>
                      </a:solidFill>
                    </a:lnB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>
                      <a:solidFill>
                        <a:srgbClr val="395E89"/>
                      </a:solidFill>
                    </a:lnL>
                    <a:lnR w="9525">
                      <a:solidFill>
                        <a:srgbClr val="395E89"/>
                      </a:solidFill>
                    </a:lnR>
                    <a:lnT w="9525">
                      <a:solidFill>
                        <a:srgbClr val="395E89"/>
                      </a:solidFill>
                    </a:lnT>
                    <a:lnB w="9525">
                      <a:solidFill>
                        <a:srgbClr val="395E89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1" name="TextBox 50"/>
          <p:cNvSpPr txBox="1"/>
          <p:nvPr/>
        </p:nvSpPr>
        <p:spPr>
          <a:xfrm>
            <a:off x="4937760" y="7082536"/>
            <a:ext cx="4462272" cy="258064"/>
          </a:xfrm>
          <a:prstGeom prst="rect">
            <a:avLst/>
          </a:prstGeom>
          <a:noFill/>
        </p:spPr>
        <p:txBody>
          <a:bodyPr wrap="square" lIns="45720" rIns="45720" tIns="27432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395E89"/>
                </a:solidFill>
                <a:latin typeface="Arial"/>
                <a:ea typeface="Arial"/>
                <a:cs typeface="Arial"/>
              </a:rPr>
              <a:t>Table 1. Counting algorithms from [1], stepped in the app.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37760" y="7395464"/>
            <a:ext cx="4462272" cy="292608"/>
          </a:xfrm>
          <a:prstGeom prst="rect">
            <a:avLst/>
          </a:prstGeom>
          <a:noFill/>
        </p:spPr>
        <p:txBody>
          <a:bodyPr wrap="square" lIns="0" rIns="0" tIns="27432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4. Remaining Tasks and Schedule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4937760" y="7688072"/>
            <a:ext cx="4462272" cy="0"/>
          </a:xfrm>
          <a:prstGeom prst="line">
            <a:avLst/>
          </a:prstGeom>
          <a:ln w="1460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4937760" y="7733792"/>
            <a:ext cx="4462272" cy="1190752"/>
          </a:xfrm>
          <a:prstGeom prst="rect">
            <a:avLst/>
          </a:prstGeom>
          <a:noFill/>
        </p:spPr>
        <p:txBody>
          <a:bodyPr wrap="square" lIns="45720" rIns="45720" tIns="27432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•  Middle insert still replays the suffix.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•  Long runs can near the 256 MB limit.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•  Explain colors and red edges on the page.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•  Later: more leaders, directed links [2].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•  Fallback: keep fast append, state the limit.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937760" y="8961120"/>
            <a:ext cx="4462272" cy="1353311"/>
          </a:xfrm>
          <a:prstGeom prst="rect">
            <a:avLst/>
          </a:prstGeom>
          <a:solidFill>
            <a:srgbClr val="FFFFFF"/>
          </a:solidFill>
          <a:ln w="12700">
            <a:solidFill>
              <a:srgbClr val="395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992624" y="8997696"/>
            <a:ext cx="4352544" cy="1116076"/>
          </a:xfrm>
          <a:prstGeom prst="rect">
            <a:avLst/>
          </a:prstGeom>
          <a:noFill/>
        </p:spPr>
        <p:txBody>
          <a:bodyPr wrap="square" lIns="18288" rIns="18288" tIns="27432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F497D"/>
                </a:solidFill>
                <a:latin typeface="Arial"/>
                <a:ea typeface="Arial"/>
                <a:cs typeface="Arial"/>
              </a:rPr>
              <a:t>Schedule, Oct 2026 – Jan 2027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•  Oct — faster middle insert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•  Nov — memory-safe long runs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•  Dec — explanations on the page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•  Jan — thesis draft and final demo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219456" y="10442448"/>
            <a:ext cx="9162288" cy="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219456" y="10497312"/>
            <a:ext cx="9162288" cy="310896"/>
          </a:xfrm>
          <a:prstGeom prst="rect">
            <a:avLst/>
          </a:prstGeom>
          <a:noFill/>
        </p:spPr>
        <p:txBody>
          <a:bodyPr wrap="square" lIns="0" rIns="0" tIns="27432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19456" y="10826496"/>
            <a:ext cx="9162288" cy="1420368"/>
          </a:xfrm>
          <a:prstGeom prst="rect">
            <a:avLst/>
          </a:prstGeom>
          <a:noFill/>
        </p:spPr>
        <p:txBody>
          <a:bodyPr wrap="square" lIns="18288" rIns="18288" tIns="27432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[1]  G. A. Di Luna and G. Viglietta, “Computing in Anonymous Dynamic Networks Is Linear,” Proc. IEEE FOCS, pp. 1122–1133, 2022.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[2]  G. Viglietta, “History Trees and Their Applications,” Proc. SIROCCO 2024, LNCS 14662, pp. 3–23, Springer, 2024.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[3]  N. Santoro, Design and Analysis of Distributed Algorithms, Wiley-Interscience, 2007.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[4]  K. Hamao, Anonymous Dynamic Network Simulator.  https://kazane1225.github.io/Research_NetworkSimulater/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Efficient Simulation and Visualization of History Trees for Dynamic Networks</dc:title>
  <dc:subject/>
  <dc:creator>Kazane Hamao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